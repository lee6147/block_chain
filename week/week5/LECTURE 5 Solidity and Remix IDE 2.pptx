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94" r:id="rId3"/>
    <p:sldId id="297" r:id="rId4"/>
    <p:sldId id="296" r:id="rId5"/>
    <p:sldId id="298" r:id="rId6"/>
    <p:sldId id="300" r:id="rId7"/>
    <p:sldId id="301" r:id="rId8"/>
    <p:sldId id="302" r:id="rId9"/>
    <p:sldId id="303" r:id="rId10"/>
    <p:sldId id="305" r:id="rId11"/>
    <p:sldId id="308" r:id="rId12"/>
    <p:sldId id="306" r:id="rId13"/>
    <p:sldId id="307" r:id="rId14"/>
    <p:sldId id="304" r:id="rId15"/>
    <p:sldId id="309" r:id="rId16"/>
    <p:sldId id="310" r:id="rId17"/>
    <p:sldId id="311" r:id="rId18"/>
    <p:sldId id="312" r:id="rId19"/>
    <p:sldId id="313" r:id="rId20"/>
    <p:sldId id="314" r:id="rId21"/>
    <p:sldId id="299" r:id="rId22"/>
    <p:sldId id="315" r:id="rId23"/>
    <p:sldId id="295" r:id="rId24"/>
    <p:sldId id="289" r:id="rId25"/>
    <p:sldId id="290" r:id="rId26"/>
    <p:sldId id="291" r:id="rId27"/>
    <p:sldId id="293" r:id="rId28"/>
    <p:sldId id="292" r:id="rId29"/>
    <p:sldId id="316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07067" y="642409"/>
            <a:ext cx="7766936" cy="1646302"/>
          </a:xfrm>
        </p:spPr>
        <p:txBody>
          <a:bodyPr/>
          <a:lstStyle/>
          <a:p>
            <a:pPr algn="ctr"/>
            <a:br>
              <a:rPr lang="en-US" altLang="ko-KR" dirty="0"/>
            </a:br>
            <a:r>
              <a:rPr lang="en-US" altLang="ko-KR" sz="2400" dirty="0"/>
              <a:t>Lecture</a:t>
            </a:r>
            <a:r>
              <a:rPr lang="ko-KR" altLang="en-US" sz="2400" dirty="0"/>
              <a:t> </a:t>
            </a:r>
            <a:r>
              <a:rPr lang="en-US" altLang="ko-KR" sz="2400" dirty="0"/>
              <a:t>5</a:t>
            </a:r>
            <a:br>
              <a:rPr lang="en-US" altLang="ko-KR" dirty="0"/>
            </a:br>
            <a:r>
              <a:rPr lang="en-US" altLang="ko-KR" dirty="0"/>
              <a:t>Solidity and Remix 2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351" y="4109643"/>
            <a:ext cx="2998649" cy="2732103"/>
          </a:xfrm>
          <a:prstGeom prst="rect">
            <a:avLst/>
          </a:prstGeom>
        </p:spPr>
      </p:pic>
      <p:sp>
        <p:nvSpPr>
          <p:cNvPr id="6" name="부제목 5"/>
          <p:cNvSpPr>
            <a:spLocks noGrp="1"/>
          </p:cNvSpPr>
          <p:nvPr>
            <p:ph type="subTitle" idx="1"/>
          </p:nvPr>
        </p:nvSpPr>
        <p:spPr>
          <a:xfrm>
            <a:off x="1507067" y="2673277"/>
            <a:ext cx="7766936" cy="1096899"/>
          </a:xfrm>
        </p:spPr>
        <p:txBody>
          <a:bodyPr>
            <a:noAutofit/>
          </a:bodyPr>
          <a:lstStyle/>
          <a:p>
            <a:pPr algn="ctr"/>
            <a:r>
              <a:rPr lang="en-US" altLang="ko-KR" dirty="0" err="1">
                <a:solidFill>
                  <a:schemeClr val="accent1"/>
                </a:solidFill>
              </a:rPr>
              <a:t>Hyoung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dirty="0" err="1">
                <a:solidFill>
                  <a:schemeClr val="accent1"/>
                </a:solidFill>
              </a:rPr>
              <a:t>Joong</a:t>
            </a:r>
            <a:r>
              <a:rPr lang="en-US" altLang="ko-KR" dirty="0">
                <a:solidFill>
                  <a:schemeClr val="accent1"/>
                </a:solidFill>
              </a:rPr>
              <a:t> Kim</a:t>
            </a:r>
          </a:p>
          <a:p>
            <a:pPr algn="ctr"/>
            <a:r>
              <a:rPr lang="en-US" altLang="ko-KR" dirty="0" err="1">
                <a:solidFill>
                  <a:schemeClr val="accent1"/>
                </a:solidFill>
              </a:rPr>
              <a:t>Kookmin</a:t>
            </a:r>
            <a:r>
              <a:rPr lang="en-US" altLang="ko-KR" dirty="0">
                <a:solidFill>
                  <a:schemeClr val="accent1"/>
                </a:solidFill>
              </a:rPr>
              <a:t> University</a:t>
            </a:r>
          </a:p>
          <a:p>
            <a:pPr algn="ctr"/>
            <a:endParaRPr lang="en-US" altLang="ko-KR" dirty="0">
              <a:solidFill>
                <a:schemeClr val="accent1"/>
              </a:solidFill>
            </a:endParaRPr>
          </a:p>
          <a:p>
            <a:pPr algn="ctr"/>
            <a:r>
              <a:rPr lang="en-US" altLang="ko-KR" dirty="0">
                <a:solidFill>
                  <a:schemeClr val="accent1"/>
                </a:solidFill>
              </a:rPr>
              <a:t>March 30, 2026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Mastering Ethere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3717545"/>
            <a:ext cx="2381250" cy="312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363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65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Faucet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40506" y="1558409"/>
            <a:ext cx="6096000" cy="5109091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</a:rPr>
              <a:t>// SPDX-</a:t>
            </a:r>
            <a:r>
              <a:rPr lang="ko-KR" altLang="en-US" sz="1100" dirty="0" err="1">
                <a:solidFill>
                  <a:schemeClr val="bg1"/>
                </a:solidFill>
              </a:rPr>
              <a:t>License</a:t>
            </a:r>
            <a:r>
              <a:rPr lang="ko-KR" altLang="en-US" sz="1100" dirty="0">
                <a:solidFill>
                  <a:schemeClr val="bg1"/>
                </a:solidFill>
              </a:rPr>
              <a:t>-</a:t>
            </a:r>
            <a:r>
              <a:rPr lang="ko-KR" altLang="en-US" sz="1100" dirty="0" err="1">
                <a:solidFill>
                  <a:schemeClr val="bg1"/>
                </a:solidFill>
              </a:rPr>
              <a:t>Identifier</a:t>
            </a:r>
            <a:r>
              <a:rPr lang="ko-KR" altLang="en-US" sz="1100" dirty="0">
                <a:solidFill>
                  <a:schemeClr val="bg1"/>
                </a:solidFill>
              </a:rPr>
              <a:t>: MIT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pragma </a:t>
            </a:r>
            <a:r>
              <a:rPr lang="ko-KR" altLang="en-US" sz="1100" dirty="0" err="1">
                <a:solidFill>
                  <a:schemeClr val="bg1"/>
                </a:solidFill>
              </a:rPr>
              <a:t>solidity</a:t>
            </a:r>
            <a:r>
              <a:rPr lang="ko-KR" altLang="en-US" sz="1100" dirty="0">
                <a:solidFill>
                  <a:schemeClr val="bg1"/>
                </a:solidFill>
              </a:rPr>
              <a:t> ^0.8.0;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contract Faucet {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// Address of the contract owner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address payable public owner;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    // Amount of ETH to send per request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uint256 public constant WITHDRAWAL_AMOUNT = 0.1 ether;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    // Time lock to prevent frequent withdrawals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uint256 public constant LOCK_TIME = 1 days;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    // </a:t>
            </a:r>
            <a:r>
              <a:rPr lang="ko-KR" altLang="en-US" sz="1100" dirty="0" err="1">
                <a:solidFill>
                  <a:schemeClr val="bg1"/>
                </a:solidFill>
              </a:rPr>
              <a:t>Mapping</a:t>
            </a:r>
            <a:r>
              <a:rPr lang="ko-KR" altLang="en-US" sz="1100" dirty="0">
                <a:solidFill>
                  <a:schemeClr val="bg1"/>
                </a:solidFill>
              </a:rPr>
              <a:t> to track the last withdrawal time for each address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mapping(address =&gt; uint256) public lastWithdrawalTime;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    // Event to log withdrawals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event Withdrawal(address indexed user, uint256 amount);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    // </a:t>
            </a:r>
            <a:r>
              <a:rPr lang="ko-KR" altLang="en-US" sz="1100" dirty="0" err="1">
                <a:solidFill>
                  <a:schemeClr val="bg1"/>
                </a:solidFill>
              </a:rPr>
              <a:t>Modifier</a:t>
            </a:r>
            <a:r>
              <a:rPr lang="ko-KR" altLang="en-US" sz="1100" dirty="0">
                <a:solidFill>
                  <a:schemeClr val="bg1"/>
                </a:solidFill>
              </a:rPr>
              <a:t> to restrict access to the owner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modifier onlyOwner() {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require(msg.sender == owner, "Only the owner can call this function.");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_;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}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    // Constructor to set the owner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constructor() {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owner = payable(</a:t>
            </a:r>
            <a:r>
              <a:rPr lang="en-US" altLang="ko-KR" sz="1100" dirty="0">
                <a:solidFill>
                  <a:schemeClr val="bg1"/>
                </a:solidFill>
              </a:rPr>
              <a:t>msg.sender</a:t>
            </a:r>
            <a:r>
              <a:rPr lang="ko-KR" altLang="en-US" sz="1100" dirty="0">
                <a:solidFill>
                  <a:schemeClr val="bg1"/>
                </a:solidFill>
              </a:rPr>
              <a:t>);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4613" y="87660"/>
            <a:ext cx="5524500" cy="669414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</a:rPr>
              <a:t>    // Function to allow users to withdraw ETH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function withdraw() external {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// Check if the user has waited long enough since their last withdrawal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require(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    block.timestamp &gt;= lastWithdrawalTime[</a:t>
            </a:r>
            <a:r>
              <a:rPr lang="en-US" altLang="ko-KR" sz="1100" dirty="0">
                <a:solidFill>
                  <a:schemeClr val="bg1"/>
                </a:solidFill>
              </a:rPr>
              <a:t>msg.sender</a:t>
            </a:r>
            <a:r>
              <a:rPr lang="ko-KR" altLang="en-US" sz="1100" dirty="0">
                <a:solidFill>
                  <a:schemeClr val="bg1"/>
                </a:solidFill>
              </a:rPr>
              <a:t>] + LOCK_TIME,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    "</a:t>
            </a:r>
            <a:r>
              <a:rPr lang="ko-KR" altLang="en-US" sz="1100" dirty="0" err="1">
                <a:solidFill>
                  <a:schemeClr val="bg1"/>
                </a:solidFill>
              </a:rPr>
              <a:t>You</a:t>
            </a:r>
            <a:r>
              <a:rPr lang="ko-KR" altLang="en-US" sz="1100" dirty="0">
                <a:solidFill>
                  <a:schemeClr val="bg1"/>
                </a:solidFill>
              </a:rPr>
              <a:t> must wait 24 hours between withdrawals."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);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        // Check if the contract has enough balance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require(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    address(this).balance &gt;= WITHDRAWAL_AMOUNT,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    "Insufficient balance in the faucet."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);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        // Update the last withdrawal time for the user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lastWithdrawalTime[</a:t>
            </a:r>
            <a:r>
              <a:rPr lang="en-US" altLang="ko-KR" sz="1100" dirty="0">
                <a:solidFill>
                  <a:schemeClr val="bg1"/>
                </a:solidFill>
              </a:rPr>
              <a:t>msg.sender</a:t>
            </a:r>
            <a:r>
              <a:rPr lang="ko-KR" altLang="en-US" sz="1100" dirty="0">
                <a:solidFill>
                  <a:schemeClr val="bg1"/>
                </a:solidFill>
              </a:rPr>
              <a:t>] = block.timestamp;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        // Send ETH to the user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payable(</a:t>
            </a:r>
            <a:r>
              <a:rPr lang="en-US" altLang="ko-KR" sz="1100" dirty="0">
                <a:solidFill>
                  <a:schemeClr val="bg1"/>
                </a:solidFill>
              </a:rPr>
              <a:t>msg.sender</a:t>
            </a:r>
            <a:r>
              <a:rPr lang="ko-KR" altLang="en-US" sz="1100" dirty="0">
                <a:solidFill>
                  <a:schemeClr val="bg1"/>
                </a:solidFill>
              </a:rPr>
              <a:t>).transfer(WITHDRAWAL_AMOUNT);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        // Emit the withdrawal event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emit Withdrawal(</a:t>
            </a:r>
            <a:r>
              <a:rPr lang="en-US" altLang="ko-KR" sz="1100" dirty="0">
                <a:solidFill>
                  <a:schemeClr val="bg1"/>
                </a:solidFill>
              </a:rPr>
              <a:t>msg.sender</a:t>
            </a:r>
            <a:r>
              <a:rPr lang="ko-KR" altLang="en-US" sz="1100" dirty="0">
                <a:solidFill>
                  <a:schemeClr val="bg1"/>
                </a:solidFill>
              </a:rPr>
              <a:t>, WITHDRAWAL_AMOUNT);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}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    // Function to allow the owner to deposit ETH into the faucet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function deposit() external payable onlyOwner {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// No additional logic needed; ETH is sent with the transaction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}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    // Function to allow the owner to withdraw all ETH from the faucet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function withdrawAll() external onlyOwner {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// Transfer the entire balance to the owner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    owner.transfer(address(this).balance);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}</a:t>
            </a:r>
          </a:p>
          <a:p>
            <a:endParaRPr lang="ko-KR" altLang="en-US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    // Fallback function to accept ETH sent directly to the contract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    receive() external payable {}</a:t>
            </a:r>
          </a:p>
          <a:p>
            <a:r>
              <a:rPr lang="ko-KR" altLang="en-US" sz="11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213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5717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Functions</a:t>
            </a:r>
            <a:endParaRPr lang="ko-KR" altLang="en-US" b="1" dirty="0"/>
          </a:p>
        </p:txBody>
      </p:sp>
      <p:sp>
        <p:nvSpPr>
          <p:cNvPr id="4" name="TextBox 3"/>
          <p:cNvSpPr txBox="1"/>
          <p:nvPr/>
        </p:nvSpPr>
        <p:spPr>
          <a:xfrm rot="10800000" flipH="1" flipV="1">
            <a:off x="975306" y="807038"/>
            <a:ext cx="1049279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b="1" dirty="0"/>
              <a:t>Modularity &amp; Reusability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Functions break down code into manageable, reusable blocks.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Avoids repetition (DRY principle – "Don’t Repeat Yourself").</a:t>
            </a:r>
          </a:p>
          <a:p>
            <a:r>
              <a:rPr lang="en-US" altLang="ko-KR" b="1" dirty="0"/>
              <a:t>2. State Mutability Control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Functions can be marked as: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>
                <a:solidFill>
                  <a:srgbClr val="C00000"/>
                </a:solidFill>
              </a:rPr>
              <a:t>pure</a:t>
            </a:r>
            <a:r>
              <a:rPr lang="en-US" altLang="ko-KR" dirty="0"/>
              <a:t>: No state read/write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>
                <a:solidFill>
                  <a:srgbClr val="C00000"/>
                </a:solidFill>
              </a:rPr>
              <a:t>view</a:t>
            </a:r>
            <a:r>
              <a:rPr lang="en-US" altLang="ko-KR" dirty="0"/>
              <a:t>: Read-only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/>
              <a:t>(Default): Read/write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dirty="0">
                <a:solidFill>
                  <a:srgbClr val="C00000"/>
                </a:solidFill>
              </a:rPr>
              <a:t>payable</a:t>
            </a:r>
            <a:r>
              <a:rPr lang="en-US" altLang="ko-KR" dirty="0"/>
              <a:t>: Can receive ETH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altLang="ko-KR" b="1" dirty="0"/>
              <a:t>Security &amp; Access Control (New)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Restrict sensitive operations with modifiers: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Prevent reentrancy attacks: 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altLang="ko-KR" b="1" dirty="0"/>
              <a:t>Gas Efficiency (New)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Bundle operations to minimize transaction costs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Reduce redundant computations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altLang="ko-KR" b="1" dirty="0"/>
              <a:t>Interoperability (New)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Standardized interfaces (ERC-20, ERC-721): </a:t>
            </a:r>
            <a:endParaRPr lang="en-US" altLang="ko-KR" b="1" dirty="0"/>
          </a:p>
          <a:p>
            <a:pPr marL="342900" indent="-342900">
              <a:buFont typeface="+mj-lt"/>
              <a:buAutoNum type="arabicPeriod" startAt="6"/>
            </a:pPr>
            <a:r>
              <a:rPr lang="en-US" altLang="ko-KR" b="1" dirty="0"/>
              <a:t>Upgradeability &amp; Maintenance (New)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Separate logic for proxies/diamond patterns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Isolate functions for future upgrades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710" y="3590772"/>
            <a:ext cx="3429479" cy="27626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074" y="3909434"/>
            <a:ext cx="3477110" cy="27626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498" y="5267778"/>
            <a:ext cx="5572903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862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5717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Functions</a:t>
            </a:r>
            <a:endParaRPr lang="ko-KR" altLang="en-US" b="1" dirty="0"/>
          </a:p>
        </p:txBody>
      </p:sp>
      <p:sp>
        <p:nvSpPr>
          <p:cNvPr id="4" name="TextBox 3"/>
          <p:cNvSpPr txBox="1"/>
          <p:nvPr/>
        </p:nvSpPr>
        <p:spPr>
          <a:xfrm rot="10800000" flipH="1" flipV="1">
            <a:off x="1013406" y="824040"/>
            <a:ext cx="104927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7. Event Emission (New)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Log important contract activity: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lvl="1"/>
            <a:endParaRPr lang="en-US" altLang="ko-KR" dirty="0"/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b="1" dirty="0"/>
              <a:t>Payable Operations (New)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Essential for ETH handling: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b="1" dirty="0"/>
              <a:t>Error Handling (New)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Centralized validation:</a:t>
            </a:r>
          </a:p>
          <a:p>
            <a:br>
              <a:rPr lang="en-US" altLang="ko-KR" dirty="0"/>
            </a:br>
            <a:endParaRPr lang="en-US" altLang="ko-KR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289" y="1176278"/>
            <a:ext cx="5887272" cy="84784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883" y="2516828"/>
            <a:ext cx="3286584" cy="71447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236" y="3659993"/>
            <a:ext cx="4315427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51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297" y="1119156"/>
            <a:ext cx="6315956" cy="4477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800" y="1933575"/>
            <a:ext cx="838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address</a:t>
            </a:r>
            <a:r>
              <a:rPr lang="en-US" altLang="ko-KR" dirty="0"/>
              <a:t> is a data type in Solidity that holds a 20-byte Ethereum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payable</a:t>
            </a:r>
            <a:r>
              <a:rPr lang="en-US" altLang="ko-KR" dirty="0"/>
              <a:t> means this address can receive </a:t>
            </a:r>
            <a:r>
              <a:rPr lang="en-US" altLang="ko-KR" b="1" dirty="0"/>
              <a:t>Ether</a:t>
            </a:r>
            <a:r>
              <a:rPr lang="en-US" altLang="ko-KR" dirty="0"/>
              <a:t> (native cryptocurrency of Ethereum). Without </a:t>
            </a:r>
            <a:r>
              <a:rPr lang="en-US" altLang="ko-KR" dirty="0">
                <a:solidFill>
                  <a:srgbClr val="C00000"/>
                </a:solidFill>
              </a:rPr>
              <a:t>payable</a:t>
            </a:r>
            <a:r>
              <a:rPr lang="en-US" altLang="ko-KR" dirty="0"/>
              <a:t>, the address cannot accept Ether transfers.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address owner; </a:t>
            </a:r>
            <a:r>
              <a:rPr lang="en-US" altLang="ko-KR" dirty="0">
                <a:sym typeface="Wingdings" panose="05000000000000000000" pitchFamily="2" charset="2"/>
              </a:rPr>
              <a:t> C</a:t>
            </a:r>
            <a:r>
              <a:rPr lang="en-US" altLang="ko-KR" dirty="0"/>
              <a:t>an store an address but cannot receive Ether.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address payable owner;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Can store an address </a:t>
            </a:r>
            <a:r>
              <a:rPr lang="en-US" altLang="ko-KR" b="1" dirty="0"/>
              <a:t>and</a:t>
            </a:r>
            <a:r>
              <a:rPr lang="en-US" altLang="ko-KR" dirty="0"/>
              <a:t> receive 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public</a:t>
            </a:r>
            <a:r>
              <a:rPr lang="en-US" altLang="ko-KR" dirty="0"/>
              <a:t>: A visibility modifier that automatically creates a </a:t>
            </a:r>
            <a:r>
              <a:rPr lang="en-US" altLang="ko-KR" b="1" dirty="0"/>
              <a:t>getter function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Receiving ETH</a:t>
            </a:r>
            <a:r>
              <a:rPr lang="en-US" altLang="ko-KR" dirty="0"/>
              <a:t>: The </a:t>
            </a:r>
            <a:r>
              <a:rPr lang="en-US" altLang="ko-KR" dirty="0">
                <a:solidFill>
                  <a:srgbClr val="C00000"/>
                </a:solidFill>
              </a:rPr>
              <a:t>owner</a:t>
            </a:r>
            <a:r>
              <a:rPr lang="en-US" altLang="ko-KR" dirty="0"/>
              <a:t> address can receive Ether (ETH) because it's marked as </a:t>
            </a:r>
            <a:r>
              <a:rPr lang="en-US" altLang="ko-KR" dirty="0">
                <a:solidFill>
                  <a:srgbClr val="C00000"/>
                </a:solidFill>
              </a:rPr>
              <a:t>payable</a:t>
            </a:r>
            <a:r>
              <a:rPr lang="en-US" altLang="ko-KR" dirty="0"/>
              <a:t>. This allows the contract to send ETH to the owner using methods like: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C00000"/>
                </a:solidFill>
              </a:rPr>
              <a:t>owner.transfer</a:t>
            </a:r>
            <a:r>
              <a:rPr lang="en-US" altLang="ko-KR" dirty="0">
                <a:solidFill>
                  <a:srgbClr val="C00000"/>
                </a:solidFill>
              </a:rPr>
              <a:t>(amount)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rgbClr val="C00000"/>
                </a:solidFill>
              </a:rPr>
              <a:t>owner.send</a:t>
            </a:r>
            <a:r>
              <a:rPr lang="en-US" altLang="ko-KR" dirty="0">
                <a:solidFill>
                  <a:srgbClr val="C00000"/>
                </a:solidFill>
              </a:rPr>
              <a:t>(amount)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Public Visibility</a:t>
            </a:r>
            <a:r>
              <a:rPr lang="en-US" altLang="ko-KR" dirty="0"/>
              <a:t>: Since it's </a:t>
            </a:r>
            <a:r>
              <a:rPr lang="en-US" altLang="ko-KR" dirty="0">
                <a:solidFill>
                  <a:srgbClr val="C00000"/>
                </a:solidFill>
              </a:rPr>
              <a:t>public</a:t>
            </a:r>
            <a:r>
              <a:rPr lang="en-US" altLang="ko-KR" dirty="0"/>
              <a:t>, anyone can check the owner's address by calling the auto-generated getter function </a:t>
            </a:r>
            <a:r>
              <a:rPr lang="en-US" altLang="ko-KR" dirty="0">
                <a:solidFill>
                  <a:srgbClr val="C00000"/>
                </a:solidFill>
              </a:rPr>
              <a:t>owner()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44955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104" y="861936"/>
            <a:ext cx="4953691" cy="1095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14450" y="2238375"/>
            <a:ext cx="92678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public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en-US" altLang="ko-KR" dirty="0">
                <a:solidFill>
                  <a:srgbClr val="C00000"/>
                </a:solidFill>
              </a:rPr>
              <a:t>constant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Makes this value readable by anyone (</a:t>
            </a:r>
            <a:r>
              <a:rPr lang="en-US" altLang="ko-KR" dirty="0">
                <a:solidFill>
                  <a:srgbClr val="C00000"/>
                </a:solidFill>
              </a:rPr>
              <a:t>public</a:t>
            </a:r>
            <a:r>
              <a:rPr lang="en-US" altLang="ko-KR" dirty="0"/>
              <a:t>) and unchangeable (</a:t>
            </a:r>
            <a:r>
              <a:rPr lang="en-US" altLang="ko-KR" dirty="0">
                <a:solidFill>
                  <a:srgbClr val="C00000"/>
                </a:solidFill>
              </a:rPr>
              <a:t>constant</a:t>
            </a:r>
            <a:r>
              <a:rPr lang="en-US" altLang="ko-KR" dirty="0"/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Purpose: Sets a fixed amount of ETH (</a:t>
            </a:r>
            <a:r>
              <a:rPr lang="en-US" altLang="ko-KR" dirty="0">
                <a:solidFill>
                  <a:srgbClr val="C00000"/>
                </a:solidFill>
              </a:rPr>
              <a:t>0.1 ether</a:t>
            </a:r>
            <a:r>
              <a:rPr lang="en-US" altLang="ko-KR" dirty="0"/>
              <a:t>) that can be withdrawn per request and enforces a </a:t>
            </a:r>
            <a:r>
              <a:rPr lang="en-US" altLang="ko-KR" b="1" dirty="0"/>
              <a:t>cooldown period</a:t>
            </a:r>
            <a:r>
              <a:rPr lang="en-US" altLang="ko-KR" dirty="0"/>
              <a:t> (</a:t>
            </a:r>
            <a:r>
              <a:rPr lang="en-US" altLang="ko-KR" dirty="0">
                <a:solidFill>
                  <a:srgbClr val="C00000"/>
                </a:solidFill>
              </a:rPr>
              <a:t>1 days</a:t>
            </a:r>
            <a:r>
              <a:rPr lang="en-US" altLang="ko-KR" dirty="0"/>
              <a:t>) between withdrawals (to prevent abuse).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Why Use These Constants?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Security: </a:t>
            </a:r>
            <a:r>
              <a:rPr lang="en-US" altLang="ko-KR" dirty="0">
                <a:solidFill>
                  <a:srgbClr val="C00000"/>
                </a:solidFill>
              </a:rPr>
              <a:t>LOCK_TIME</a:t>
            </a:r>
            <a:r>
              <a:rPr lang="en-US" altLang="ko-KR" dirty="0"/>
              <a:t> prevents users from draining the contract by spamming withdrawals.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Fairness: </a:t>
            </a:r>
            <a:r>
              <a:rPr lang="en-US" altLang="ko-KR" dirty="0">
                <a:solidFill>
                  <a:srgbClr val="C00000"/>
                </a:solidFill>
              </a:rPr>
              <a:t>WITHDRAWAL_AMOUNT</a:t>
            </a:r>
            <a:r>
              <a:rPr lang="en-US" altLang="ko-KR" dirty="0"/>
              <a:t> prevents users from draining the contract by spamming withdrawals.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Gas Efficiency: </a:t>
            </a:r>
            <a:r>
              <a:rPr lang="en-US" altLang="ko-KR" dirty="0">
                <a:solidFill>
                  <a:srgbClr val="C00000"/>
                </a:solidFill>
              </a:rPr>
              <a:t>constant</a:t>
            </a:r>
            <a:r>
              <a:rPr lang="en-US" altLang="ko-KR" dirty="0"/>
              <a:t> values are embedded in the contract bytecode (no storage needed), saving gas.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9840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3369" y="805327"/>
            <a:ext cx="805815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Creates a key-value store where: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Key: An Ethereum address (</a:t>
            </a:r>
            <a:r>
              <a:rPr lang="en-US" altLang="ko-KR" dirty="0">
                <a:solidFill>
                  <a:srgbClr val="C00000"/>
                </a:solidFill>
              </a:rPr>
              <a:t>address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Value: A timestamp (</a:t>
            </a:r>
            <a:r>
              <a:rPr lang="en-US" altLang="ko-KR" dirty="0">
                <a:solidFill>
                  <a:srgbClr val="C00000"/>
                </a:solidFill>
              </a:rPr>
              <a:t>uint</a:t>
            </a:r>
            <a:r>
              <a:rPr lang="en-US" altLang="ko-KR" dirty="0"/>
              <a:t>) representing the last withdrawal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Purpose: Sets a fixed amount of ETH (</a:t>
            </a:r>
            <a:r>
              <a:rPr lang="en-US" altLang="ko-KR" dirty="0">
                <a:solidFill>
                  <a:srgbClr val="C00000"/>
                </a:solidFill>
              </a:rPr>
              <a:t>0.1 ether</a:t>
            </a:r>
            <a:r>
              <a:rPr lang="en-US" altLang="ko-KR" dirty="0"/>
              <a:t>) that can be withdrawn per request and enforces a </a:t>
            </a:r>
            <a:r>
              <a:rPr lang="en-US" altLang="ko-KR" b="1" dirty="0"/>
              <a:t>cooldown period</a:t>
            </a:r>
            <a:r>
              <a:rPr lang="en-US" altLang="ko-KR" dirty="0"/>
              <a:t> (</a:t>
            </a:r>
            <a:r>
              <a:rPr lang="en-US" altLang="ko-KR" dirty="0">
                <a:solidFill>
                  <a:srgbClr val="C00000"/>
                </a:solidFill>
              </a:rPr>
              <a:t>1 days</a:t>
            </a:r>
            <a:r>
              <a:rPr lang="en-US" altLang="ko-KR" dirty="0"/>
              <a:t>) between withdrawals (to prevent abuse).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Key: Can be almost any built-in type (</a:t>
            </a:r>
            <a:r>
              <a:rPr lang="en-US" altLang="ko-KR" dirty="0">
                <a:solidFill>
                  <a:srgbClr val="C00000"/>
                </a:solidFill>
              </a:rPr>
              <a:t>address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C00000"/>
                </a:solidFill>
              </a:rPr>
              <a:t>uint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C00000"/>
                </a:solidFill>
              </a:rPr>
              <a:t>byte32</a:t>
            </a:r>
            <a:r>
              <a:rPr lang="en-US" altLang="ko-KR" dirty="0"/>
              <a:t>, etc.), but not complex types like </a:t>
            </a:r>
            <a:r>
              <a:rPr lang="en-US" altLang="ko-KR" dirty="0">
                <a:solidFill>
                  <a:srgbClr val="C00000"/>
                </a:solidFill>
              </a:rPr>
              <a:t>struct</a:t>
            </a:r>
            <a:r>
              <a:rPr lang="en-US" altLang="ko-KR" dirty="0"/>
              <a:t> or anther </a:t>
            </a:r>
            <a:r>
              <a:rPr lang="en-US" altLang="ko-KR" dirty="0">
                <a:solidFill>
                  <a:srgbClr val="C00000"/>
                </a:solidFill>
              </a:rPr>
              <a:t>mapping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Value: Can be any type, including </a:t>
            </a:r>
            <a:r>
              <a:rPr lang="en-US" altLang="ko-KR" dirty="0">
                <a:solidFill>
                  <a:srgbClr val="C00000"/>
                </a:solidFill>
              </a:rPr>
              <a:t>struct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rgbClr val="C00000"/>
                </a:solidFill>
              </a:rPr>
              <a:t>array</a:t>
            </a:r>
            <a:r>
              <a:rPr lang="en-US" altLang="ko-KR" dirty="0"/>
              <a:t>, or even another </a:t>
            </a:r>
            <a:r>
              <a:rPr lang="en-US" altLang="ko-KR" dirty="0">
                <a:solidFill>
                  <a:srgbClr val="C00000"/>
                </a:solidFill>
              </a:rPr>
              <a:t>mapping</a:t>
            </a:r>
            <a:r>
              <a:rPr lang="en-US" altLang="ko-KR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</a:rPr>
              <a:t>T</a:t>
            </a:r>
            <a:r>
              <a:rPr lang="ko-KR" altLang="ko-KR" dirty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</a:rPr>
              <a:t>he </a:t>
            </a:r>
            <a:r>
              <a:rPr lang="ko-KR" altLang="ko-KR" b="1" dirty="0">
                <a:solidFill>
                  <a:srgbClr val="404040"/>
                </a:solidFill>
                <a:latin typeface="Arial Unicode MS"/>
                <a:ea typeface="var(--ds-font-family-code)"/>
              </a:rPr>
              <a:t>mapping</a:t>
            </a:r>
            <a:r>
              <a:rPr lang="ko-KR" altLang="ko-KR" dirty="0">
                <a:solidFill>
                  <a:srgbClr val="404040"/>
                </a:solidFill>
                <a:ea typeface="DeepSeek-CJK-patch"/>
              </a:rPr>
              <a:t> </a:t>
            </a:r>
            <a:r>
              <a:rPr lang="ko-KR" altLang="ko-KR" dirty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</a:rPr>
              <a:t>keyword is used to </a:t>
            </a:r>
            <a:r>
              <a:rPr lang="ko-KR" altLang="ko-KR" u="sng" dirty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</a:rPr>
              <a:t>declare</a:t>
            </a:r>
            <a:r>
              <a:rPr lang="ko-KR" altLang="ko-KR" dirty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</a:rPr>
              <a:t> a </a:t>
            </a:r>
            <a:r>
              <a:rPr lang="ko-KR" altLang="ko-KR" b="1" dirty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</a:rPr>
              <a:t>key-value data structure</a:t>
            </a:r>
            <a:r>
              <a:rPr lang="ko-KR" altLang="ko-KR" dirty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</a:rPr>
              <a:t> in Solidity</a:t>
            </a:r>
            <a:r>
              <a:rPr lang="en-US" altLang="ko-KR" dirty="0">
                <a:solidFill>
                  <a:srgbClr val="404040"/>
                </a:solidFill>
                <a:latin typeface="Arial" panose="020B0604020202020204" pitchFamily="34" charset="0"/>
                <a:ea typeface="DeepSeek-CJK-patch"/>
              </a:rPr>
              <a:t>.</a:t>
            </a:r>
            <a:r>
              <a:rPr lang="ko-KR" altLang="ko-KR" sz="1050" dirty="0">
                <a:latin typeface="Arial" panose="020B0604020202020204" pitchFamily="34" charset="0"/>
              </a:rPr>
              <a:t>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69" y="160161"/>
            <a:ext cx="5553850" cy="600159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752000"/>
              </p:ext>
            </p:extLst>
          </p:nvPr>
        </p:nvGraphicFramePr>
        <p:xfrm>
          <a:off x="8391522" y="115153"/>
          <a:ext cx="3609978" cy="1818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33503">
                  <a:extLst>
                    <a:ext uri="{9D8B030D-6E8A-4147-A177-3AD203B41FA5}">
                      <a16:colId xmlns:a16="http://schemas.microsoft.com/office/drawing/2014/main" val="110497408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36692495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lastWithdrawalTime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2242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0x1234ABC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2025-03-12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93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0xABCD000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2020-12-13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804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0x7788990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2015-12-09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548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0x654321F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2024-07-11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429517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175" y="4216001"/>
            <a:ext cx="5462975" cy="2565799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031061"/>
              </p:ext>
            </p:extLst>
          </p:nvPr>
        </p:nvGraphicFramePr>
        <p:xfrm>
          <a:off x="7063722" y="4224474"/>
          <a:ext cx="4937778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6">
                  <a:extLst>
                    <a:ext uri="{9D8B030D-6E8A-4147-A177-3AD203B41FA5}">
                      <a16:colId xmlns:a16="http://schemas.microsoft.com/office/drawing/2014/main" val="734991409"/>
                    </a:ext>
                  </a:extLst>
                </a:gridCol>
                <a:gridCol w="1645926">
                  <a:extLst>
                    <a:ext uri="{9D8B030D-6E8A-4147-A177-3AD203B41FA5}">
                      <a16:colId xmlns:a16="http://schemas.microsoft.com/office/drawing/2014/main" val="652141107"/>
                    </a:ext>
                  </a:extLst>
                </a:gridCol>
                <a:gridCol w="1645926">
                  <a:extLst>
                    <a:ext uri="{9D8B030D-6E8A-4147-A177-3AD203B41FA5}">
                      <a16:colId xmlns:a16="http://schemas.microsoft.com/office/drawing/2014/main" val="1548601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address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8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0x1234ABC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John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653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0xABCD000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Kim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6954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0x7788990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MacArthur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877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0x654321F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Lee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68491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91519" y="2162175"/>
            <a:ext cx="3609981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lastWithdrawalTime</a:t>
            </a:r>
            <a:r>
              <a:rPr lang="en-US" altLang="ko-KR" dirty="0"/>
              <a:t>[0x1234ABC]=2025-03-12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596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24" y="638135"/>
            <a:ext cx="4848902" cy="5715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9324" y="2190750"/>
            <a:ext cx="102965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This line declares an </a:t>
            </a:r>
            <a:r>
              <a:rPr lang="en-US" altLang="ko-KR" b="1" dirty="0"/>
              <a:t>event</a:t>
            </a:r>
            <a:r>
              <a:rPr lang="en-US" altLang="ko-KR" dirty="0"/>
              <a:t> in Solidity that will be emitted (logged) whenever a withdrawal occurs in the smart contract.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What It Does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Creates a log entry on the blockchain whenever the </a:t>
            </a:r>
            <a:r>
              <a:rPr lang="en-US" altLang="ko-KR" dirty="0">
                <a:solidFill>
                  <a:srgbClr val="C00000"/>
                </a:solidFill>
              </a:rPr>
              <a:t>withdrawal</a:t>
            </a:r>
            <a:r>
              <a:rPr lang="en-US" altLang="ko-KR" dirty="0"/>
              <a:t> event is emitted.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Records which user (</a:t>
            </a:r>
            <a:r>
              <a:rPr lang="en-US" altLang="ko-KR" dirty="0">
                <a:solidFill>
                  <a:srgbClr val="C00000"/>
                </a:solidFill>
              </a:rPr>
              <a:t>address</a:t>
            </a:r>
            <a:r>
              <a:rPr lang="en-US" altLang="ko-KR" dirty="0"/>
              <a:t>) withdrew how much (</a:t>
            </a:r>
            <a:r>
              <a:rPr lang="en-US" altLang="ko-KR" dirty="0">
                <a:solidFill>
                  <a:srgbClr val="C00000"/>
                </a:solidFill>
              </a:rPr>
              <a:t>uint256 amount</a:t>
            </a:r>
            <a:r>
              <a:rPr lang="en-US" altLang="ko-KR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The </a:t>
            </a:r>
            <a:r>
              <a:rPr lang="en-US" altLang="ko-KR" dirty="0">
                <a:solidFill>
                  <a:srgbClr val="C00000"/>
                </a:solidFill>
              </a:rPr>
              <a:t>indexed</a:t>
            </a:r>
            <a:r>
              <a:rPr lang="en-US" altLang="ko-KR" dirty="0"/>
              <a:t> keyword makes the </a:t>
            </a:r>
            <a:r>
              <a:rPr lang="en-US" altLang="ko-KR" dirty="0">
                <a:solidFill>
                  <a:srgbClr val="C00000"/>
                </a:solidFill>
              </a:rPr>
              <a:t>user</a:t>
            </a:r>
            <a:r>
              <a:rPr lang="en-US" altLang="ko-KR" dirty="0"/>
              <a:t> address filterable in blockchain explorers.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>
                <a:solidFill>
                  <a:srgbClr val="C00000"/>
                </a:solidFill>
              </a:rPr>
              <a:t>event</a:t>
            </a:r>
            <a:r>
              <a:rPr lang="en-US" altLang="ko-KR" dirty="0"/>
              <a:t> keyword declares this as an event that can be emitted later.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The name of the event (can be anything descriptive) is </a:t>
            </a:r>
            <a:r>
              <a:rPr lang="en-US" altLang="ko-KR" dirty="0">
                <a:solidFill>
                  <a:srgbClr val="C00000"/>
                </a:solidFill>
              </a:rPr>
              <a:t>withdrawal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The withdrawing user's address is </a:t>
            </a:r>
            <a:r>
              <a:rPr lang="en-US" altLang="ko-KR" dirty="0">
                <a:solidFill>
                  <a:srgbClr val="C00000"/>
                </a:solidFill>
              </a:rPr>
              <a:t>address indexed user</a:t>
            </a:r>
            <a:r>
              <a:rPr lang="en-US" altLang="ko-KR" dirty="0"/>
              <a:t>. </a:t>
            </a:r>
            <a:r>
              <a:rPr lang="en-US" altLang="ko-KR" dirty="0">
                <a:solidFill>
                  <a:srgbClr val="C00000"/>
                </a:solidFill>
              </a:rPr>
              <a:t>indexed</a:t>
            </a:r>
            <a:r>
              <a:rPr lang="en-US" altLang="ko-KR" dirty="0"/>
              <a:t> allows efficient filtering of logs by this parameter.</a:t>
            </a:r>
          </a:p>
          <a:p>
            <a:br>
              <a:rPr lang="en-US" altLang="ko-KR" dirty="0"/>
            </a:b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10" name="TextBox 9"/>
          <p:cNvSpPr txBox="1"/>
          <p:nvPr/>
        </p:nvSpPr>
        <p:spPr>
          <a:xfrm>
            <a:off x="1109325" y="1409699"/>
            <a:ext cx="3938926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"User 0x1234abcd withdrew 20 ETH“ in the event “Withdrawal”.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4812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32" y="1943021"/>
            <a:ext cx="6706536" cy="1124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7732" y="371475"/>
            <a:ext cx="1055416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/>
              <a:t>A modifier is </a:t>
            </a:r>
            <a:r>
              <a:rPr lang="en-US" altLang="ko-KR" b="1" dirty="0">
                <a:solidFill>
                  <a:srgbClr val="7030A0"/>
                </a:solidFill>
              </a:rPr>
              <a:t>a special type of function </a:t>
            </a:r>
            <a:r>
              <a:rPr lang="en-US" altLang="ko-KR" dirty="0"/>
              <a:t>that you use </a:t>
            </a:r>
            <a:r>
              <a:rPr lang="en-US" altLang="ko-KR" b="1" dirty="0">
                <a:solidFill>
                  <a:srgbClr val="7030A0"/>
                </a:solidFill>
              </a:rPr>
              <a:t>to modify the behavior of other functions</a:t>
            </a:r>
            <a:r>
              <a:rPr lang="en-US" altLang="ko-KR" dirty="0"/>
              <a:t>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/>
              <a:t>Modifiers allow you </a:t>
            </a:r>
            <a:r>
              <a:rPr lang="en-US" altLang="ko-KR" b="1" dirty="0">
                <a:solidFill>
                  <a:srgbClr val="7030A0"/>
                </a:solidFill>
              </a:rPr>
              <a:t>to add extra conditions or functionality to a function </a:t>
            </a:r>
            <a:r>
              <a:rPr lang="en-US" altLang="ko-KR" dirty="0"/>
              <a:t>without having to rewrite the entire function.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ko-KR" altLang="ko-KR" dirty="0">
                <a:solidFill>
                  <a:srgbClr val="0A0A23"/>
                </a:solidFill>
                <a:ea typeface="Lato"/>
              </a:rPr>
              <a:t>To define a modifier, you use the </a:t>
            </a:r>
            <a:r>
              <a:rPr lang="ko-KR" altLang="ko-KR" dirty="0">
                <a:solidFill>
                  <a:srgbClr val="C00000"/>
                </a:solidFill>
                <a:ea typeface="Roboto Mono"/>
              </a:rPr>
              <a:t>modifier</a:t>
            </a:r>
            <a:r>
              <a:rPr lang="ko-KR" altLang="ko-KR" dirty="0">
                <a:solidFill>
                  <a:srgbClr val="0A0A23"/>
                </a:solidFill>
                <a:ea typeface="Lato"/>
              </a:rPr>
              <a:t> keyword followed by the name of the modifier and any parameters</a:t>
            </a:r>
            <a:r>
              <a:rPr lang="en-US" altLang="ko-KR" dirty="0">
                <a:solidFill>
                  <a:srgbClr val="0A0A23"/>
                </a:solidFill>
                <a:ea typeface="Lato"/>
              </a:rPr>
              <a:t> it may have</a:t>
            </a:r>
            <a:r>
              <a:rPr lang="ko-KR" altLang="ko-KR" dirty="0">
                <a:solidFill>
                  <a:srgbClr val="0A0A23"/>
                </a:solidFill>
                <a:ea typeface="Lato"/>
              </a:rPr>
              <a:t>.</a:t>
            </a:r>
            <a:endParaRPr lang="en-US" altLang="ko-KR" dirty="0">
              <a:solidFill>
                <a:srgbClr val="0A0A23"/>
              </a:solidFill>
              <a:ea typeface="Lato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0A0A23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0A0A23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0A0A23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0A0A23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0A0A23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0A0A23"/>
              </a:solidFill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/>
              <a:t>In this example, the </a:t>
            </a:r>
            <a:r>
              <a:rPr lang="en-US" altLang="ko-KR" dirty="0">
                <a:solidFill>
                  <a:srgbClr val="C00000"/>
                </a:solidFill>
              </a:rPr>
              <a:t>onlyOwner</a:t>
            </a:r>
            <a:r>
              <a:rPr lang="en-US" altLang="ko-KR" dirty="0"/>
              <a:t> modifier has no parameters and includes a </a:t>
            </a:r>
            <a:r>
              <a:rPr lang="en-US" altLang="ko-KR" dirty="0">
                <a:solidFill>
                  <a:srgbClr val="C00000"/>
                </a:solidFill>
              </a:rPr>
              <a:t>require</a:t>
            </a:r>
            <a:r>
              <a:rPr lang="en-US" altLang="ko-KR" dirty="0"/>
              <a:t> statement that checks that the message sender is the contract owner.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/>
              <a:t>If the message sender is the contract owner, the function will be executed. If the message sender is not the contract owner, the function will not execute.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/>
              <a:t>The </a:t>
            </a:r>
            <a:r>
              <a:rPr lang="en-US" altLang="ko-KR" dirty="0">
                <a:solidFill>
                  <a:srgbClr val="C00000"/>
                </a:solidFill>
              </a:rPr>
              <a:t>_;</a:t>
            </a:r>
            <a:r>
              <a:rPr lang="en-US" altLang="ko-KR" dirty="0"/>
              <a:t> symbol is a special symbol that is used in Solidity modifiers to indicate the end of the modifier and the beginning of the function that the modifier is modifying.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/>
              <a:t>The body of a modifier is made up of one or more statements that are used to modify the behavior of the function, and the </a:t>
            </a:r>
            <a:r>
              <a:rPr lang="en-US" altLang="ko-KR" dirty="0">
                <a:solidFill>
                  <a:srgbClr val="C00000"/>
                </a:solidFill>
              </a:rPr>
              <a:t>_;</a:t>
            </a:r>
            <a:r>
              <a:rPr lang="en-US" altLang="ko-KR" dirty="0"/>
              <a:t> symbol.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3352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32" y="342860"/>
            <a:ext cx="6706536" cy="1124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7732" y="1524919"/>
            <a:ext cx="105541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msg</a:t>
            </a:r>
            <a:r>
              <a:rPr lang="en-US" altLang="ko-KR" dirty="0"/>
              <a:t> is a reserved global variable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Purpose</a:t>
            </a:r>
            <a:r>
              <a:rPr lang="en-US" altLang="ko-KR" dirty="0"/>
              <a:t>: Provides metadata about the current call/transaction.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Availability</a:t>
            </a:r>
            <a:r>
              <a:rPr lang="en-US" altLang="ko-KR" dirty="0"/>
              <a:t>: Automatically accessible in all functions (no need to declare).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Immutability</a:t>
            </a:r>
            <a:r>
              <a:rPr lang="en-US" altLang="ko-KR" dirty="0"/>
              <a:t>: Values are read-only and set by the Ethereum Virtual Machine (EVM).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sz="800" dirty="0"/>
          </a:p>
        </p:txBody>
      </p:sp>
      <p:sp>
        <p:nvSpPr>
          <p:cNvPr id="3" name="직사각형 2"/>
          <p:cNvSpPr/>
          <p:nvPr/>
        </p:nvSpPr>
        <p:spPr>
          <a:xfrm>
            <a:off x="1371600" y="773250"/>
            <a:ext cx="5953125" cy="25372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354998"/>
              </p:ext>
            </p:extLst>
          </p:nvPr>
        </p:nvGraphicFramePr>
        <p:xfrm>
          <a:off x="837732" y="3862916"/>
          <a:ext cx="10782768" cy="2291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91118">
                  <a:extLst>
                    <a:ext uri="{9D8B030D-6E8A-4147-A177-3AD203B41FA5}">
                      <a16:colId xmlns:a16="http://schemas.microsoft.com/office/drawing/2014/main" val="2999933917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3094915674"/>
                    </a:ext>
                  </a:extLst>
                </a:gridCol>
                <a:gridCol w="7753350">
                  <a:extLst>
                    <a:ext uri="{9D8B030D-6E8A-4147-A177-3AD203B41FA5}">
                      <a16:colId xmlns:a16="http://schemas.microsoft.com/office/drawing/2014/main" val="34225284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Property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10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msg.sender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address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Immediate caller of the function (EOA or contract).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 called the function (</a:t>
                      </a:r>
                      <a:r>
                        <a:rPr lang="en-US" altLang="ko-KR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sender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8549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msg.value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uint256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Amount of ETH (in wei) sent with the call. Only valid in </a:t>
                      </a:r>
                      <a:r>
                        <a:rPr lang="en-US" altLang="ko-KR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payable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functions.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much ETH was sent (</a:t>
                      </a:r>
                      <a:r>
                        <a:rPr lang="en-US" altLang="ko-KR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163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msg.data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bytes </a:t>
                      </a:r>
                      <a:r>
                        <a:rPr lang="en-US" altLang="ko-KR" dirty="0" err="1"/>
                        <a:t>calldata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 </a:t>
                      </a:r>
                      <a:r>
                        <a:rPr lang="en-US" altLang="ko-K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calldata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(function selector + arguments) of the current call.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raw call data (</a:t>
                      </a:r>
                      <a:r>
                        <a:rPr lang="en-US" altLang="ko-KR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340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90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32" y="342860"/>
            <a:ext cx="6706536" cy="1124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7732" y="1524919"/>
            <a:ext cx="1055416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/>
              <a:t>This line enforces that only the contract's owner can execute a function, by checking if the address calling the function (</a:t>
            </a:r>
            <a:r>
              <a:rPr lang="en-US" altLang="ko-KR" dirty="0">
                <a:solidFill>
                  <a:srgbClr val="C00000"/>
                </a:solidFill>
              </a:rPr>
              <a:t>msg.sender</a:t>
            </a:r>
            <a:r>
              <a:rPr lang="en-US" altLang="ko-KR" dirty="0"/>
              <a:t>) matches the owner's address (</a:t>
            </a:r>
            <a:r>
              <a:rPr lang="en-US" altLang="ko-KR" dirty="0">
                <a:solidFill>
                  <a:srgbClr val="C00000"/>
                </a:solidFill>
              </a:rPr>
              <a:t>owner</a:t>
            </a:r>
            <a:r>
              <a:rPr lang="en-US" altLang="ko-KR" dirty="0"/>
              <a:t>) and reverting with a specified error message if it doesn't.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msg.sender</a:t>
            </a:r>
            <a:r>
              <a:rPr lang="en-US" altLang="ko-KR" dirty="0"/>
              <a:t> is a globally available variable that holds the </a:t>
            </a:r>
            <a:r>
              <a:rPr lang="en-US" altLang="ko-KR" b="1" dirty="0"/>
              <a:t>address of the account or contract that initiated the current transaction or call</a:t>
            </a:r>
            <a:r>
              <a:rPr lang="en-US" altLang="ko-KR" dirty="0"/>
              <a:t>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b="1" dirty="0"/>
              <a:t>For External Transactions</a:t>
            </a:r>
            <a:r>
              <a:rPr lang="en-US" altLang="ko-KR" dirty="0"/>
              <a:t>: If a user (e.g., Alice) calls a contract function directly from their wallet (EOA, Externally Owned Account), </a:t>
            </a:r>
            <a:r>
              <a:rPr lang="en-US" altLang="ko-KR" dirty="0">
                <a:solidFill>
                  <a:srgbClr val="C00000"/>
                </a:solidFill>
              </a:rPr>
              <a:t>msg.sender</a:t>
            </a:r>
            <a:r>
              <a:rPr lang="en-US" altLang="ko-KR" dirty="0"/>
              <a:t> is Alice address.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b="1" dirty="0"/>
              <a:t>For Contract-to-Contract Calls</a:t>
            </a:r>
            <a:r>
              <a:rPr lang="en-US" altLang="ko-KR" dirty="0"/>
              <a:t>: If Contract A calls Contract B, </a:t>
            </a:r>
            <a:r>
              <a:rPr lang="en-US" altLang="ko-KR" dirty="0">
                <a:solidFill>
                  <a:srgbClr val="C00000"/>
                </a:solidFill>
              </a:rPr>
              <a:t> msg.sender</a:t>
            </a:r>
            <a:r>
              <a:rPr lang="en-US" altLang="ko-KR" dirty="0"/>
              <a:t> in Contract B is </a:t>
            </a:r>
            <a:r>
              <a:rPr lang="en-US" altLang="ko-KR" b="1" dirty="0"/>
              <a:t>Contract A’s address</a:t>
            </a:r>
            <a:r>
              <a:rPr lang="en-US" altLang="ko-KR" dirty="0"/>
              <a:t> (not the original user’s address).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371600" y="773250"/>
            <a:ext cx="5953125" cy="25372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026" y="3805173"/>
            <a:ext cx="5172797" cy="92405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026" y="5464459"/>
            <a:ext cx="6592220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03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32" y="409535"/>
            <a:ext cx="6706536" cy="1124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7732" y="4100243"/>
            <a:ext cx="1055416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/>
              <a:t>If </a:t>
            </a:r>
            <a:r>
              <a:rPr lang="en-US" altLang="ko-KR" dirty="0">
                <a:solidFill>
                  <a:srgbClr val="C00000"/>
                </a:solidFill>
              </a:rPr>
              <a:t>msg.sender==owner </a:t>
            </a:r>
            <a:r>
              <a:rPr lang="en-US" altLang="ko-KR" dirty="0"/>
              <a:t>(via </a:t>
            </a:r>
            <a:r>
              <a:rPr lang="en-US" altLang="ko-KR" dirty="0">
                <a:solidFill>
                  <a:srgbClr val="C00000"/>
                </a:solidFill>
              </a:rPr>
              <a:t>onlyOwner</a:t>
            </a:r>
            <a:r>
              <a:rPr lang="en-US" altLang="ko-KR" dirty="0"/>
              <a:t>), the function </a:t>
            </a:r>
            <a:r>
              <a:rPr lang="en-US" altLang="ko-KR" dirty="0">
                <a:solidFill>
                  <a:srgbClr val="C00000"/>
                </a:solidFill>
              </a:rPr>
              <a:t>deposit() </a:t>
            </a:r>
            <a:r>
              <a:rPr lang="en-US" altLang="ko-KR" dirty="0"/>
              <a:t>accepts ETH sent with the transaction (thanks to </a:t>
            </a:r>
            <a:r>
              <a:rPr lang="en-US" altLang="ko-KR" dirty="0">
                <a:solidFill>
                  <a:srgbClr val="C00000"/>
                </a:solidFill>
              </a:rPr>
              <a:t>payable</a:t>
            </a:r>
            <a:r>
              <a:rPr lang="en-US" altLang="ko-KR" dirty="0"/>
              <a:t>).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altLang="ko-KR" dirty="0"/>
              <a:t>Otherwise, the function </a:t>
            </a:r>
            <a:r>
              <a:rPr lang="en-US" altLang="ko-KR" dirty="0">
                <a:solidFill>
                  <a:srgbClr val="C00000"/>
                </a:solidFill>
              </a:rPr>
              <a:t>deposit() </a:t>
            </a:r>
            <a:r>
              <a:rPr lang="en-US" altLang="ko-KR" dirty="0"/>
              <a:t>reverts with “</a:t>
            </a:r>
            <a:r>
              <a:rPr lang="en-US" altLang="ko-KR" dirty="0">
                <a:solidFill>
                  <a:srgbClr val="C00000"/>
                </a:solidFill>
              </a:rPr>
              <a:t>Only the owner can call this function.</a:t>
            </a:r>
            <a:r>
              <a:rPr lang="en-US" altLang="ko-KR" dirty="0"/>
              <a:t>”</a:t>
            </a:r>
          </a:p>
          <a:p>
            <a:pPr fontAlgn="base"/>
            <a:endParaRPr lang="en-US" altLang="ko-KR" sz="8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ko-KR" dirty="0"/>
              <a:t>If </a:t>
            </a:r>
            <a:r>
              <a:rPr lang="en-US" altLang="ko-KR" dirty="0">
                <a:solidFill>
                  <a:srgbClr val="C00000"/>
                </a:solidFill>
              </a:rPr>
              <a:t>msg.sender==owner </a:t>
            </a:r>
            <a:r>
              <a:rPr lang="en-US" altLang="ko-KR" dirty="0"/>
              <a:t>(via </a:t>
            </a:r>
            <a:r>
              <a:rPr lang="en-US" altLang="ko-KR" dirty="0">
                <a:solidFill>
                  <a:srgbClr val="C00000"/>
                </a:solidFill>
              </a:rPr>
              <a:t>onlyOwner</a:t>
            </a:r>
            <a:r>
              <a:rPr lang="en-US" altLang="ko-KR" dirty="0"/>
              <a:t>), the function </a:t>
            </a:r>
            <a:r>
              <a:rPr lang="en-US" altLang="ko-KR" dirty="0" err="1">
                <a:solidFill>
                  <a:srgbClr val="C00000"/>
                </a:solidFill>
              </a:rPr>
              <a:t>withdrawAll</a:t>
            </a:r>
            <a:r>
              <a:rPr lang="en-US" altLang="ko-KR" dirty="0">
                <a:solidFill>
                  <a:srgbClr val="C00000"/>
                </a:solidFill>
              </a:rPr>
              <a:t>() </a:t>
            </a:r>
            <a:r>
              <a:rPr lang="en-US" altLang="ko-KR" dirty="0"/>
              <a:t>transfers the contract’s </a:t>
            </a:r>
            <a:r>
              <a:rPr lang="en-US" altLang="ko-KR" b="1" dirty="0"/>
              <a:t>entire ETH balance</a:t>
            </a:r>
            <a:r>
              <a:rPr lang="en-US" altLang="ko-KR" dirty="0"/>
              <a:t> to </a:t>
            </a:r>
            <a:r>
              <a:rPr lang="en-US" altLang="ko-KR" dirty="0">
                <a:solidFill>
                  <a:srgbClr val="C00000"/>
                </a:solidFill>
              </a:rPr>
              <a:t>owner</a:t>
            </a:r>
            <a:r>
              <a:rPr lang="en-US" altLang="ko-KR" dirty="0"/>
              <a:t>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altLang="ko-KR" dirty="0"/>
              <a:t>Otherwise, the function </a:t>
            </a:r>
            <a:r>
              <a:rPr lang="en-US" altLang="ko-KR" dirty="0" err="1">
                <a:solidFill>
                  <a:srgbClr val="C00000"/>
                </a:solidFill>
              </a:rPr>
              <a:t>withdrawAll</a:t>
            </a:r>
            <a:r>
              <a:rPr lang="en-US" altLang="ko-KR" dirty="0">
                <a:solidFill>
                  <a:srgbClr val="C00000"/>
                </a:solidFill>
              </a:rPr>
              <a:t>() </a:t>
            </a:r>
            <a:r>
              <a:rPr lang="en-US" altLang="ko-KR" dirty="0"/>
              <a:t>reverts with “</a:t>
            </a:r>
            <a:r>
              <a:rPr lang="en-US" altLang="ko-KR" dirty="0">
                <a:solidFill>
                  <a:srgbClr val="C00000"/>
                </a:solidFill>
              </a:rPr>
              <a:t>Only the owner can call this function.</a:t>
            </a:r>
            <a:r>
              <a:rPr lang="en-US" altLang="ko-KR" dirty="0"/>
              <a:t>”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3" name="직사각형 2"/>
          <p:cNvSpPr/>
          <p:nvPr/>
        </p:nvSpPr>
        <p:spPr>
          <a:xfrm>
            <a:off x="961990" y="620850"/>
            <a:ext cx="1885986" cy="26497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32" y="1821396"/>
            <a:ext cx="6201640" cy="215295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657440" y="2049601"/>
            <a:ext cx="2276510" cy="25545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981290" y="3059598"/>
            <a:ext cx="1590710" cy="27415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3" idx="2"/>
            <a:endCxn id="7" idx="1"/>
          </p:cNvCxnSpPr>
          <p:nvPr/>
        </p:nvCxnSpPr>
        <p:spPr>
          <a:xfrm>
            <a:off x="1904983" y="885825"/>
            <a:ext cx="752457" cy="1291501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endCxn id="8" idx="1"/>
          </p:cNvCxnSpPr>
          <p:nvPr/>
        </p:nvCxnSpPr>
        <p:spPr>
          <a:xfrm>
            <a:off x="1904983" y="885825"/>
            <a:ext cx="1076307" cy="2310849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950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32" y="409535"/>
            <a:ext cx="6706536" cy="112410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371600" y="839925"/>
            <a:ext cx="5953125" cy="25372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935068"/>
              </p:ext>
            </p:extLst>
          </p:nvPr>
        </p:nvGraphicFramePr>
        <p:xfrm>
          <a:off x="676275" y="4524375"/>
          <a:ext cx="10982325" cy="1478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41449">
                  <a:extLst>
                    <a:ext uri="{9D8B030D-6E8A-4147-A177-3AD203B41FA5}">
                      <a16:colId xmlns:a16="http://schemas.microsoft.com/office/drawing/2014/main" val="2855093514"/>
                    </a:ext>
                  </a:extLst>
                </a:gridCol>
                <a:gridCol w="3452552">
                  <a:extLst>
                    <a:ext uri="{9D8B030D-6E8A-4147-A177-3AD203B41FA5}">
                      <a16:colId xmlns:a16="http://schemas.microsoft.com/office/drawing/2014/main" val="2967221571"/>
                    </a:ext>
                  </a:extLst>
                </a:gridCol>
                <a:gridCol w="3081939">
                  <a:extLst>
                    <a:ext uri="{9D8B030D-6E8A-4147-A177-3AD203B41FA5}">
                      <a16:colId xmlns:a16="http://schemas.microsoft.com/office/drawing/2014/main" val="4148409622"/>
                    </a:ext>
                  </a:extLst>
                </a:gridCol>
                <a:gridCol w="2906385">
                  <a:extLst>
                    <a:ext uri="{9D8B030D-6E8A-4147-A177-3AD203B41FA5}">
                      <a16:colId xmlns:a16="http://schemas.microsoft.com/office/drawing/2014/main" val="3439469679"/>
                    </a:ext>
                  </a:extLst>
                </a:gridCol>
              </a:tblGrid>
              <a:tr h="3094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require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assert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revert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0666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lt"/>
                        </a:rPr>
                        <a:t>Purpose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Validate inputs/external conditions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internal invariants (bugs)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 error handling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653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lt"/>
                        </a:rPr>
                        <a:t>Gas Refund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lt"/>
                        </a:rPr>
                        <a:t>Yes (Refund unused gas)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lt"/>
                        </a:rPr>
                        <a:t>No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lt"/>
                        </a:rPr>
                        <a:t>Yes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0446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lt"/>
                        </a:rPr>
                        <a:t>Error Message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lt"/>
                        </a:rPr>
                        <a:t>Optional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+mn-lt"/>
                        </a:rPr>
                        <a:t>Not allowed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>
                          <a:latin typeface="+mn-lt"/>
                        </a:rPr>
                        <a:t>Required (via</a:t>
                      </a:r>
                      <a:r>
                        <a:rPr lang="en-US" altLang="ko-KR" sz="1600" baseline="0" dirty="0">
                          <a:latin typeface="+mn-lt"/>
                        </a:rPr>
                        <a:t> </a:t>
                      </a:r>
                      <a:r>
                        <a:rPr lang="en-US" altLang="ko-KR" sz="1600" baseline="0" dirty="0">
                          <a:solidFill>
                            <a:srgbClr val="C00000"/>
                          </a:solidFill>
                          <a:latin typeface="+mn-lt"/>
                        </a:rPr>
                        <a:t>r</a:t>
                      </a:r>
                      <a:r>
                        <a:rPr lang="en-US" altLang="ko-KR" sz="1600" dirty="0">
                          <a:solidFill>
                            <a:srgbClr val="C00000"/>
                          </a:solidFill>
                          <a:latin typeface="+mn-lt"/>
                        </a:rPr>
                        <a:t>evert(“msg”)</a:t>
                      </a:r>
                      <a:r>
                        <a:rPr lang="en-US" altLang="ko-KR" sz="1600" dirty="0">
                          <a:latin typeface="+mn-lt"/>
                        </a:rPr>
                        <a:t>)</a:t>
                      </a:r>
                      <a:endParaRPr lang="ko-KR" altLang="en-US" sz="16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4339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936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23" y="528566"/>
            <a:ext cx="5572903" cy="10193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4523" y="1733550"/>
            <a:ext cx="1006355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Constructor Definition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The </a:t>
            </a:r>
            <a:r>
              <a:rPr lang="en-US" altLang="ko-KR" dirty="0">
                <a:solidFill>
                  <a:srgbClr val="C00000"/>
                </a:solidFill>
              </a:rPr>
              <a:t>constructor</a:t>
            </a:r>
            <a:r>
              <a:rPr lang="en-US" altLang="ko-KR" dirty="0"/>
              <a:t> is a special function that runs exactly once when the contract is deployed.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It's where you initialize critical contract states.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Setting the Owner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msg.sender</a:t>
            </a:r>
            <a:r>
              <a:rPr lang="en-US" altLang="ko-KR" dirty="0"/>
              <a:t> refers to the Ethereum address that deployed the contract.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This line assigns the </a:t>
            </a:r>
            <a:r>
              <a:rPr lang="en-US" altLang="ko-KR" dirty="0" err="1"/>
              <a:t>deployer's</a:t>
            </a:r>
            <a:r>
              <a:rPr lang="en-US" altLang="ko-KR" dirty="0"/>
              <a:t> address to the </a:t>
            </a:r>
            <a:r>
              <a:rPr lang="en-US" altLang="ko-KR" dirty="0">
                <a:solidFill>
                  <a:srgbClr val="C00000"/>
                </a:solidFill>
              </a:rPr>
              <a:t>owner</a:t>
            </a:r>
            <a:r>
              <a:rPr lang="en-US" altLang="ko-KR" dirty="0"/>
              <a:t> state variable.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The </a:t>
            </a:r>
            <a:r>
              <a:rPr lang="en-US" altLang="ko-KR" dirty="0">
                <a:solidFill>
                  <a:srgbClr val="C00000"/>
                </a:solidFill>
              </a:rPr>
              <a:t>payable</a:t>
            </a:r>
            <a:r>
              <a:rPr lang="en-US" altLang="ko-KR" dirty="0"/>
              <a:t> keyword makes the owner address capable of receiving ETH.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Example Flow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Alice deploys the contract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Constructor executes: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msg.sender</a:t>
            </a:r>
            <a:r>
              <a:rPr lang="en-US" altLang="ko-KR" dirty="0"/>
              <a:t> = Alice’s address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owner</a:t>
            </a:r>
            <a:r>
              <a:rPr lang="en-US" altLang="ko-KR" dirty="0"/>
              <a:t> variable now permanently stores Alice's address.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Only Alice can call owner-restricted functions.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9218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04523" y="1733550"/>
            <a:ext cx="1006355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What </a:t>
            </a:r>
            <a:r>
              <a:rPr lang="en-US" altLang="ko-KR" dirty="0">
                <a:solidFill>
                  <a:srgbClr val="C00000"/>
                </a:solidFill>
              </a:rPr>
              <a:t>external</a:t>
            </a:r>
            <a:r>
              <a:rPr lang="en-US" altLang="ko-KR" dirty="0"/>
              <a:t> Means: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Visibility</a:t>
            </a:r>
            <a:r>
              <a:rPr lang="en-US" altLang="ko-KR" dirty="0"/>
              <a:t>: An </a:t>
            </a:r>
            <a:r>
              <a:rPr lang="en-US" altLang="ko-KR" dirty="0">
                <a:solidFill>
                  <a:srgbClr val="C00000"/>
                </a:solidFill>
              </a:rPr>
              <a:t>external</a:t>
            </a:r>
            <a:r>
              <a:rPr lang="en-US" altLang="ko-KR" dirty="0"/>
              <a:t> function can </a:t>
            </a:r>
            <a:r>
              <a:rPr lang="en-US" altLang="ko-KR" b="1" dirty="0"/>
              <a:t>only be called from outside the contract</a:t>
            </a:r>
            <a:r>
              <a:rPr lang="en-US" altLang="ko-KR" dirty="0"/>
              <a:t> (e.g., by another contract or via a transaction).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Cannot be called internally</a:t>
            </a:r>
            <a:r>
              <a:rPr lang="en-US" altLang="ko-KR" dirty="0"/>
              <a:t>: Attempting to call an </a:t>
            </a:r>
            <a:r>
              <a:rPr lang="en-US" altLang="ko-KR" dirty="0">
                <a:solidFill>
                  <a:srgbClr val="C00000"/>
                </a:solidFill>
              </a:rPr>
              <a:t>external</a:t>
            </a:r>
            <a:r>
              <a:rPr lang="en-US" altLang="ko-KR" dirty="0"/>
              <a:t> function from within the same contract (without </a:t>
            </a:r>
            <a:r>
              <a:rPr lang="en-US" altLang="ko-KR" dirty="0">
                <a:solidFill>
                  <a:srgbClr val="C00000"/>
                </a:solidFill>
              </a:rPr>
              <a:t>this.</a:t>
            </a:r>
            <a:r>
              <a:rPr lang="en-US" altLang="ko-KR" dirty="0"/>
              <a:t>) will cause a compilation error.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8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23" y="947702"/>
            <a:ext cx="4915586" cy="504895"/>
          </a:xfrm>
          <a:prstGeom prst="rect">
            <a:avLst/>
          </a:prstGeom>
        </p:spPr>
      </p:pic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765137"/>
              </p:ext>
            </p:extLst>
          </p:nvPr>
        </p:nvGraphicFramePr>
        <p:xfrm>
          <a:off x="2056109" y="4243916"/>
          <a:ext cx="8128000" cy="2123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3130095299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245486217"/>
                    </a:ext>
                  </a:extLst>
                </a:gridCol>
                <a:gridCol w="2409825">
                  <a:extLst>
                    <a:ext uri="{9D8B030D-6E8A-4147-A177-3AD203B41FA5}">
                      <a16:colId xmlns:a16="http://schemas.microsoft.com/office/drawing/2014/main" val="4025454353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4158066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Visibility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Callable Externally?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Callable Internally?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Gas Cost (External Call)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345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external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Yes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No (via </a:t>
                      </a:r>
                      <a:r>
                        <a:rPr lang="en-US" altLang="ko-KR" sz="1600" dirty="0">
                          <a:solidFill>
                            <a:srgbClr val="C00000"/>
                          </a:solidFill>
                        </a:rPr>
                        <a:t>this.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Cheapest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5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public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Yes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Yes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Slightly higher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035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internal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No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Yes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N/A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059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private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No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Yes (same contract only)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N/A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175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819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04523" y="1905000"/>
            <a:ext cx="100635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What </a:t>
            </a:r>
            <a:r>
              <a:rPr lang="en-US" altLang="ko-KR" dirty="0">
                <a:solidFill>
                  <a:srgbClr val="C00000"/>
                </a:solidFill>
              </a:rPr>
              <a:t>block</a:t>
            </a:r>
            <a:r>
              <a:rPr lang="en-US" altLang="ko-KR" dirty="0"/>
              <a:t> Means: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block</a:t>
            </a:r>
            <a:r>
              <a:rPr lang="ko-KR" altLang="en-US" b="1" dirty="0"/>
              <a:t> </a:t>
            </a:r>
            <a:r>
              <a:rPr lang="en-US" altLang="ko-KR" dirty="0"/>
              <a:t>is a </a:t>
            </a:r>
            <a:r>
              <a:rPr lang="en-US" altLang="ko-KR" b="1" dirty="0"/>
              <a:t>reserved global variable</a:t>
            </a:r>
            <a:r>
              <a:rPr lang="en-US" altLang="ko-KR" dirty="0"/>
              <a:t> in Solidity (not a keyword).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It provides information about the </a:t>
            </a:r>
            <a:r>
              <a:rPr lang="en-US" altLang="ko-KR" b="1" dirty="0"/>
              <a:t>current blockchain block</a:t>
            </a:r>
            <a:r>
              <a:rPr lang="en-US" altLang="ko-KR" dirty="0"/>
              <a:t> being mined.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Since it is hardcoded into Solidity, you cannot declare variables named </a:t>
            </a:r>
            <a:r>
              <a:rPr lang="en-US" altLang="ko-KR" dirty="0">
                <a:solidFill>
                  <a:srgbClr val="C00000"/>
                </a:solidFill>
              </a:rPr>
              <a:t>block</a:t>
            </a:r>
            <a:r>
              <a:rPr lang="en-US" altLang="ko-KR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8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650" y="638022"/>
            <a:ext cx="6620799" cy="1095528"/>
          </a:xfrm>
          <a:prstGeom prst="rect">
            <a:avLst/>
          </a:prstGeom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925615"/>
              </p:ext>
            </p:extLst>
          </p:nvPr>
        </p:nvGraphicFramePr>
        <p:xfrm>
          <a:off x="1204523" y="3739091"/>
          <a:ext cx="10092128" cy="2225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05402">
                  <a:extLst>
                    <a:ext uri="{9D8B030D-6E8A-4147-A177-3AD203B41FA5}">
                      <a16:colId xmlns:a16="http://schemas.microsoft.com/office/drawing/2014/main" val="11896198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190430992"/>
                    </a:ext>
                  </a:extLst>
                </a:gridCol>
                <a:gridCol w="7058026">
                  <a:extLst>
                    <a:ext uri="{9D8B030D-6E8A-4147-A177-3AD203B41FA5}">
                      <a16:colId xmlns:a16="http://schemas.microsoft.com/office/drawing/2014/main" val="285570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Property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03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rgbClr val="C00000"/>
                          </a:solidFill>
                        </a:rPr>
                        <a:t>block.timestamp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uint256 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Unix timestamp (seconds since Jan 1, 1970) of the current block.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8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rgbClr val="C00000"/>
                          </a:solidFill>
                        </a:rPr>
                        <a:t>block.number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uint256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 block number (height of the chain).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4290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rgbClr val="C00000"/>
                          </a:solidFill>
                        </a:rPr>
                        <a:t>block.chainid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uint256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 of the current blockchain (e.g. 1</a:t>
                      </a:r>
                      <a:r>
                        <a:rPr lang="en-US" altLang="ko-KR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Ethereum Mainnet).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4437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rgbClr val="C00000"/>
                          </a:solidFill>
                        </a:rPr>
                        <a:t>block.coinbase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uint256 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 of the miner/validator who mined the block (rarely used).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242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rgbClr val="C00000"/>
                          </a:solidFill>
                        </a:rPr>
                        <a:t>block.gaslimit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uint256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Maximum gas allowed in the current block.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280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327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04523" y="1905000"/>
            <a:ext cx="100635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This Solidity code snippet enforces a </a:t>
            </a:r>
            <a:r>
              <a:rPr lang="en-US" altLang="ko-KR" b="1" dirty="0"/>
              <a:t>time-based cooldown</a:t>
            </a:r>
            <a:r>
              <a:rPr lang="en-US" altLang="ko-KR" dirty="0"/>
              <a:t> between withdrawals to prevent users from withdrawing funds too frequently.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b="1" dirty="0"/>
              <a:t>Checks if the caller </a:t>
            </a:r>
            <a:r>
              <a:rPr lang="en-US" altLang="ko-KR" dirty="0"/>
              <a:t>(msg.sender) </a:t>
            </a:r>
            <a:r>
              <a:rPr lang="en-US" altLang="ko-KR" b="1" dirty="0"/>
              <a:t>has waited long enough</a:t>
            </a:r>
            <a:r>
              <a:rPr lang="en-US" altLang="ko-KR" dirty="0"/>
              <a:t> since their last withdrawal.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b="1" dirty="0"/>
              <a:t>Reverts the transaction</a:t>
            </a:r>
            <a:r>
              <a:rPr lang="en-US" altLang="ko-KR" dirty="0"/>
              <a:t> if the condition fails, showing the error message.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650" y="638022"/>
            <a:ext cx="6620799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51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04522" y="1905000"/>
            <a:ext cx="105493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This snippet ensures the contract's balance is </a:t>
            </a:r>
            <a:r>
              <a:rPr lang="en-US" altLang="ko-KR" b="1" dirty="0"/>
              <a:t>greater than or equal to </a:t>
            </a:r>
            <a:r>
              <a:rPr lang="en-US" altLang="ko-KR" dirty="0"/>
              <a:t>WITHDRAWAL_AMOUNT.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The </a:t>
            </a:r>
            <a:r>
              <a:rPr lang="en-US" altLang="ko-KR" dirty="0">
                <a:solidFill>
                  <a:srgbClr val="C00000"/>
                </a:solidFill>
              </a:rPr>
              <a:t>this</a:t>
            </a:r>
            <a:r>
              <a:rPr lang="en-US" altLang="ko-KR" dirty="0"/>
              <a:t> refers to the </a:t>
            </a:r>
            <a:r>
              <a:rPr lang="en-US" altLang="ko-KR" b="1" dirty="0"/>
              <a:t>current contract instance</a:t>
            </a:r>
            <a:r>
              <a:rPr lang="en-US" altLang="ko-KR" dirty="0"/>
              <a:t>. It's a special keyword that allows the contract to reference its own address or call its own functions in an external context.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The </a:t>
            </a:r>
            <a:r>
              <a:rPr lang="en-US" altLang="ko-KR" dirty="0">
                <a:solidFill>
                  <a:srgbClr val="C00000"/>
                </a:solidFill>
              </a:rPr>
              <a:t>this</a:t>
            </a:r>
            <a:r>
              <a:rPr lang="en-US" altLang="ko-KR" dirty="0"/>
              <a:t> accesses the contract's own address or functions </a:t>
            </a:r>
            <a:r>
              <a:rPr lang="en-US" altLang="ko-KR" b="1" dirty="0"/>
              <a:t>as if they were called externally</a:t>
            </a:r>
            <a:r>
              <a:rPr lang="en-US" altLang="ko-KR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address(this)</a:t>
            </a:r>
            <a:r>
              <a:rPr lang="en-US" altLang="ko-KR" dirty="0"/>
              <a:t> returns the current contract's address as an address type.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.balance </a:t>
            </a:r>
            <a:r>
              <a:rPr lang="en-US" altLang="ko-KR" dirty="0"/>
              <a:t>is a property of </a:t>
            </a:r>
            <a:r>
              <a:rPr lang="en-US" altLang="ko-KR" dirty="0">
                <a:solidFill>
                  <a:srgbClr val="C00000"/>
                </a:solidFill>
              </a:rPr>
              <a:t>address</a:t>
            </a:r>
            <a:r>
              <a:rPr lang="en-US" altLang="ko-KR" dirty="0"/>
              <a:t> that retrieves the ETH balance (in wei) stored at that address.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23" y="571420"/>
            <a:ext cx="4582164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3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04522" y="1638300"/>
            <a:ext cx="10549327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This line of Solidity code is responsible for </a:t>
            </a:r>
            <a:r>
              <a:rPr lang="en-US" altLang="ko-KR" b="1" dirty="0"/>
              <a:t>sending ETH from the smart contract to the caller's address </a:t>
            </a:r>
            <a:r>
              <a:rPr lang="en-US" altLang="ko-KR" dirty="0"/>
              <a:t>(</a:t>
            </a:r>
            <a:r>
              <a:rPr lang="en-US" altLang="ko-KR" dirty="0">
                <a:solidFill>
                  <a:srgbClr val="C00000"/>
                </a:solidFill>
              </a:rPr>
              <a:t>msg.sender</a:t>
            </a:r>
            <a:r>
              <a:rPr lang="en-US" altLang="ko-KR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msg.sender</a:t>
            </a:r>
            <a:r>
              <a:rPr lang="en-US" altLang="ko-KR" dirty="0"/>
              <a:t>: The address of the person/contract calling the function.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Example: </a:t>
            </a:r>
            <a:r>
              <a:rPr lang="en-US" altLang="ko-KR" dirty="0">
                <a:solidFill>
                  <a:srgbClr val="C00000"/>
                </a:solidFill>
              </a:rPr>
              <a:t>0x123…</a:t>
            </a:r>
            <a:r>
              <a:rPr lang="en-US" altLang="ko-KR" dirty="0" err="1">
                <a:solidFill>
                  <a:srgbClr val="C00000"/>
                </a:solidFill>
              </a:rPr>
              <a:t>abc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r>
              <a:rPr lang="en-US" altLang="ko-KR" dirty="0"/>
              <a:t>(Alice’s address)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payable(msg.sender) </a:t>
            </a:r>
            <a:r>
              <a:rPr lang="en-US" altLang="ko-KR" dirty="0"/>
              <a:t>converts </a:t>
            </a:r>
            <a:r>
              <a:rPr lang="en-US" altLang="ko-KR" dirty="0">
                <a:solidFill>
                  <a:srgbClr val="C00000"/>
                </a:solidFill>
              </a:rPr>
              <a:t>msg.sender</a:t>
            </a:r>
            <a:r>
              <a:rPr lang="en-US" altLang="ko-KR" dirty="0"/>
              <a:t> from a plain address to a </a:t>
            </a:r>
            <a:r>
              <a:rPr lang="en-US" altLang="ko-KR" dirty="0">
                <a:solidFill>
                  <a:srgbClr val="C00000"/>
                </a:solidFill>
              </a:rPr>
              <a:t>payable address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Why? Regular addresses cannot receive ETH; </a:t>
            </a:r>
            <a:r>
              <a:rPr lang="en-US" altLang="ko-KR" dirty="0">
                <a:solidFill>
                  <a:srgbClr val="C00000"/>
                </a:solidFill>
              </a:rPr>
              <a:t>payable</a:t>
            </a:r>
            <a:r>
              <a:rPr lang="en-US" altLang="ko-KR" dirty="0"/>
              <a:t> enables transfers.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transfer(WITHDRAWAL_AMOUNT)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Sends </a:t>
            </a:r>
            <a:r>
              <a:rPr lang="en-US" altLang="ko-KR" dirty="0">
                <a:solidFill>
                  <a:srgbClr val="C00000"/>
                </a:solidFill>
              </a:rPr>
              <a:t>WITHDRAWAL_AMOUNT</a:t>
            </a:r>
            <a:r>
              <a:rPr lang="en-US" altLang="ko-KR" dirty="0"/>
              <a:t> (e.g., </a:t>
            </a:r>
            <a:r>
              <a:rPr lang="en-US" altLang="ko-KR" dirty="0">
                <a:solidFill>
                  <a:srgbClr val="C00000"/>
                </a:solidFill>
              </a:rPr>
              <a:t>0.1 ether</a:t>
            </a:r>
            <a:r>
              <a:rPr lang="en-US" altLang="ko-KR" dirty="0"/>
              <a:t>) from the contract's balance to </a:t>
            </a:r>
            <a:r>
              <a:rPr lang="en-US" altLang="ko-KR" dirty="0">
                <a:solidFill>
                  <a:srgbClr val="C00000"/>
                </a:solidFill>
              </a:rPr>
              <a:t>msg.sender</a:t>
            </a:r>
            <a:r>
              <a:rPr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Gas Limit</a:t>
            </a:r>
            <a:r>
              <a:rPr lang="en-US" altLang="ko-KR" dirty="0"/>
              <a:t>: Caps gas at 2300, preventing reentrancy attacks (but may fail for complex fallbacks).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Reverts on Failure</a:t>
            </a:r>
            <a:r>
              <a:rPr lang="en-US" altLang="ko-KR" dirty="0"/>
              <a:t>: If the recipient is a contract without a receive() or fallback() function, or if the contract lacks sufficient ETH.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Real-World Analogy (like a vending machine)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You (msg.sender) request a product (</a:t>
            </a:r>
            <a:r>
              <a:rPr lang="en-US" altLang="ko-KR" dirty="0">
                <a:solidFill>
                  <a:srgbClr val="C00000"/>
                </a:solidFill>
              </a:rPr>
              <a:t>WITHDRAWAL_AMOUNT</a:t>
            </a:r>
            <a:r>
              <a:rPr lang="en-US" altLang="ko-KR" dirty="0"/>
              <a:t>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The machine (contract) checks its stock (</a:t>
            </a:r>
            <a:r>
              <a:rPr lang="en-US" altLang="ko-KR" dirty="0">
                <a:solidFill>
                  <a:srgbClr val="C00000"/>
                </a:solidFill>
              </a:rPr>
              <a:t>address(this).balance</a:t>
            </a:r>
            <a:r>
              <a:rPr lang="en-US" altLang="ko-KR" dirty="0"/>
              <a:t>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If valid, it dispenses the product (ETH) to you.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22" y="933409"/>
            <a:ext cx="4429743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74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04522" y="1638300"/>
            <a:ext cx="1054932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This line is used to </a:t>
            </a:r>
            <a:r>
              <a:rPr lang="en-US" altLang="ko-KR" b="1" dirty="0"/>
              <a:t>log a transaction event</a:t>
            </a:r>
            <a:r>
              <a:rPr lang="en-US" altLang="ko-KR" dirty="0"/>
              <a:t> on the blockchain, specifically recording that a withdrawal has occurred.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When </a:t>
            </a:r>
            <a:r>
              <a:rPr lang="en-US" altLang="ko-KR" dirty="0">
                <a:solidFill>
                  <a:srgbClr val="C00000"/>
                </a:solidFill>
              </a:rPr>
              <a:t>emit Withdrawal(msg.sender, WITHDRAWAL_AMOUNT); </a:t>
            </a:r>
            <a:r>
              <a:rPr lang="en-US" altLang="ko-KR" dirty="0"/>
              <a:t>executes: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The event data (</a:t>
            </a:r>
            <a:r>
              <a:rPr lang="en-US" altLang="ko-KR" dirty="0">
                <a:solidFill>
                  <a:srgbClr val="C00000"/>
                </a:solidFill>
              </a:rPr>
              <a:t>msg.sender,</a:t>
            </a:r>
            <a:r>
              <a:rPr lang="en-US" altLang="ko-KR" dirty="0"/>
              <a:t> </a:t>
            </a:r>
            <a:r>
              <a:rPr lang="en-US" altLang="ko-KR" dirty="0">
                <a:solidFill>
                  <a:srgbClr val="C00000"/>
                </a:solidFill>
              </a:rPr>
              <a:t>WITHDRAWAL_AMOUNT</a:t>
            </a:r>
            <a:r>
              <a:rPr lang="en-US" altLang="ko-KR" dirty="0"/>
              <a:t>) is recorded in the transaction log.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Off-chain applications (like wallets or block explorers) can detect and display this event.</a:t>
            </a:r>
          </a:p>
          <a:p>
            <a:pPr lvl="1"/>
            <a:endParaRPr lang="en-US" altLang="ko-KR" sz="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The </a:t>
            </a:r>
            <a:r>
              <a:rPr lang="en-US" altLang="ko-KR" dirty="0">
                <a:solidFill>
                  <a:srgbClr val="C00000"/>
                </a:solidFill>
              </a:rPr>
              <a:t>withdrawal</a:t>
            </a:r>
            <a:r>
              <a:rPr lang="en-US" altLang="ko-KR" dirty="0"/>
              <a:t> event must be defined earlier in the contract </a:t>
            </a:r>
            <a:r>
              <a:rPr lang="en-US" altLang="ko-KR" dirty="0">
                <a:solidFill>
                  <a:srgbClr val="C00000"/>
                </a:solidFill>
              </a:rPr>
              <a:t>indexed</a:t>
            </a:r>
            <a:r>
              <a:rPr lang="en-US" altLang="ko-KR" dirty="0"/>
              <a:t> parameters for filtering).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22" y="1057194"/>
            <a:ext cx="4267796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578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9" y="766695"/>
            <a:ext cx="6068272" cy="9621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1139" y="1895475"/>
            <a:ext cx="102540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When the owner calls this function: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They must include ETH in the transaction (e.g., by setting a </a:t>
            </a:r>
            <a:r>
              <a:rPr lang="en-US" altLang="ko-KR" dirty="0">
                <a:solidFill>
                  <a:srgbClr val="C00000"/>
                </a:solidFill>
              </a:rPr>
              <a:t>value</a:t>
            </a:r>
            <a:r>
              <a:rPr lang="en-US" altLang="ko-KR" dirty="0"/>
              <a:t> in </a:t>
            </a:r>
            <a:r>
              <a:rPr lang="en-US" altLang="ko-KR" dirty="0" err="1"/>
              <a:t>MetaMask</a:t>
            </a:r>
            <a:r>
              <a:rPr lang="en-US" altLang="ko-KR" dirty="0"/>
              <a:t>) 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The contract: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Verifies the caller is the owner (through </a:t>
            </a:r>
            <a:r>
              <a:rPr lang="en-US" altLang="ko-KR" dirty="0">
                <a:solidFill>
                  <a:srgbClr val="C00000"/>
                </a:solidFill>
              </a:rPr>
              <a:t>onlyOwner</a:t>
            </a:r>
            <a:r>
              <a:rPr lang="en-US" altLang="ko-KR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Automatically stores the sent ETH in the contract's balance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Doesn't need additional logic because the ETH handling is built into the </a:t>
            </a:r>
            <a:r>
              <a:rPr lang="en-US" altLang="ko-KR" dirty="0">
                <a:solidFill>
                  <a:srgbClr val="C00000"/>
                </a:solidFill>
              </a:rPr>
              <a:t>payable</a:t>
            </a:r>
            <a:r>
              <a:rPr lang="en-US" altLang="ko-KR" dirty="0"/>
              <a:t> feature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This seemingly "empty“ </a:t>
            </a:r>
            <a:r>
              <a:rPr lang="en-US" altLang="ko-KR" dirty="0">
                <a:solidFill>
                  <a:srgbClr val="C00000"/>
                </a:solidFill>
              </a:rPr>
              <a:t>deposit()</a:t>
            </a:r>
            <a:r>
              <a:rPr lang="en-US" altLang="ko-KR" dirty="0"/>
              <a:t> function works without custom logic: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When you mark a function as </a:t>
            </a:r>
            <a:r>
              <a:rPr lang="en-US" altLang="ko-KR" dirty="0">
                <a:solidFill>
                  <a:srgbClr val="C00000"/>
                </a:solidFill>
              </a:rPr>
              <a:t>payable</a:t>
            </a:r>
            <a:r>
              <a:rPr lang="en-US" altLang="ko-KR" dirty="0"/>
              <a:t>, Solidity </a:t>
            </a:r>
            <a:r>
              <a:rPr lang="en-US" altLang="ko-KR" b="1" dirty="0"/>
              <a:t>automatically credits</a:t>
            </a:r>
            <a:r>
              <a:rPr lang="en-US" altLang="ko-KR" dirty="0"/>
              <a:t> any ETH sent with the transaction to the contract's balance.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When someone calls this function and attaches ETH (e.g., via </a:t>
            </a:r>
            <a:r>
              <a:rPr lang="en-US" altLang="ko-KR" dirty="0" err="1"/>
              <a:t>MetaMask</a:t>
            </a:r>
            <a:r>
              <a:rPr lang="en-US" altLang="ko-KR" dirty="0"/>
              <a:t> or another contract), the ETH is </a:t>
            </a:r>
            <a:r>
              <a:rPr lang="en-US" altLang="ko-KR" b="1" dirty="0"/>
              <a:t>immediately added</a:t>
            </a:r>
            <a:r>
              <a:rPr lang="en-US" altLang="ko-KR" dirty="0"/>
              <a:t> to </a:t>
            </a:r>
            <a:r>
              <a:rPr lang="en-US" altLang="ko-KR" dirty="0">
                <a:solidFill>
                  <a:srgbClr val="C00000"/>
                </a:solidFill>
              </a:rPr>
              <a:t>address(this).balance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2451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1139" y="1895475"/>
            <a:ext cx="102540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When called by owner: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Checks </a:t>
            </a:r>
            <a:r>
              <a:rPr lang="en-US" altLang="ko-KR" dirty="0">
                <a:solidFill>
                  <a:srgbClr val="C00000"/>
                </a:solidFill>
              </a:rPr>
              <a:t>msg.sender == owner </a:t>
            </a:r>
            <a:r>
              <a:rPr lang="en-US" altLang="ko-KR" dirty="0"/>
              <a:t>(via </a:t>
            </a:r>
            <a:r>
              <a:rPr lang="en-US" altLang="ko-KR" dirty="0">
                <a:solidFill>
                  <a:srgbClr val="C00000"/>
                </a:solidFill>
              </a:rPr>
              <a:t>onlyOwner</a:t>
            </a:r>
            <a:r>
              <a:rPr lang="en-US" altLang="ko-KR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Reads contract's full ETH balance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/>
              <a:t>Transfers entire balance to owner's address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owner.transfer</a:t>
            </a:r>
            <a:r>
              <a:rPr lang="en-US" altLang="ko-KR" dirty="0"/>
              <a:t> </a:t>
            </a:r>
            <a:r>
              <a:rPr lang="en-US" altLang="ko-KR" b="1" dirty="0"/>
              <a:t>transfers ETH</a:t>
            </a:r>
            <a:r>
              <a:rPr lang="en-US" altLang="ko-KR" dirty="0"/>
              <a:t> from the contract to the </a:t>
            </a:r>
            <a:r>
              <a:rPr lang="en-US" altLang="ko-KR" dirty="0">
                <a:solidFill>
                  <a:srgbClr val="C00000"/>
                </a:solidFill>
              </a:rPr>
              <a:t>owner</a:t>
            </a:r>
            <a:r>
              <a:rPr lang="en-US" altLang="ko-KR" dirty="0"/>
              <a:t> address.</a:t>
            </a:r>
            <a:br>
              <a:rPr lang="en-US" altLang="ko-KR" dirty="0"/>
            </a:b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39" y="661907"/>
            <a:ext cx="5896798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56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Faucet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6362" y="1041023"/>
            <a:ext cx="9439276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Contract Structure</a:t>
            </a:r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1. State Variables</a:t>
            </a:r>
          </a:p>
          <a:p>
            <a:pPr algn="ctr"/>
            <a:endParaRPr lang="en-US" altLang="ko-KR" sz="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owner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: Stores the address of the contract creator (payable to receive funds)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WITHDRAWAL_AMOUNT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: Fixed amount (0.1 ETH) given per withdrawal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LOCK_TIME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: 24-hour cooldown period between withdrawals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lastWithdrawalTime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: Tracks when each address last withdrew funds</a:t>
            </a:r>
          </a:p>
          <a:p>
            <a:endParaRPr lang="en-US" altLang="ko-KR" sz="800" dirty="0"/>
          </a:p>
          <a:p>
            <a:pPr algn="ctr"/>
            <a:r>
              <a:rPr lang="en-US" altLang="ko-KR" b="1" dirty="0"/>
              <a:t>2. Modifier</a:t>
            </a:r>
          </a:p>
          <a:p>
            <a:pPr algn="ctr"/>
            <a:endParaRPr lang="en-US" altLang="ko-KR" sz="800" dirty="0"/>
          </a:p>
          <a:p>
            <a:r>
              <a:rPr lang="en-US" altLang="ko-KR" dirty="0"/>
              <a:t>modifier onlyOwner() {</a:t>
            </a:r>
          </a:p>
          <a:p>
            <a:r>
              <a:rPr lang="en-US" altLang="ko-KR" dirty="0"/>
              <a:t>    require(msg.sender == owner, "Only the owner can call this function.");</a:t>
            </a:r>
          </a:p>
          <a:p>
            <a:r>
              <a:rPr lang="en-US" altLang="ko-KR" dirty="0"/>
              <a:t>    _;</a:t>
            </a:r>
          </a:p>
          <a:p>
            <a:r>
              <a:rPr lang="en-US" altLang="ko-KR" dirty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Restricts function access to only the contract owner.</a:t>
            </a:r>
            <a:endParaRPr lang="ko-KR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6363" y="2069630"/>
            <a:ext cx="9477374" cy="107721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address payable public </a:t>
            </a:r>
            <a:r>
              <a:rPr lang="en-US" altLang="ko-KR" sz="1600" b="1" dirty="0">
                <a:solidFill>
                  <a:schemeClr val="bg1"/>
                </a:solidFill>
              </a:rPr>
              <a:t>owner</a:t>
            </a:r>
            <a:r>
              <a:rPr lang="en-US" altLang="ko-KR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unit256 public constant </a:t>
            </a:r>
            <a:r>
              <a:rPr lang="en-US" altLang="ko-KR" sz="1600" b="1" dirty="0">
                <a:solidFill>
                  <a:schemeClr val="bg1"/>
                </a:solidFill>
              </a:rPr>
              <a:t>WITHDRAWAL_AMOUNT</a:t>
            </a:r>
            <a:r>
              <a:rPr lang="en-US" altLang="ko-KR" sz="1600" dirty="0">
                <a:solidFill>
                  <a:schemeClr val="bg1"/>
                </a:solidFill>
              </a:rPr>
              <a:t> = 0.1 ether;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uint256 public constant </a:t>
            </a:r>
            <a:r>
              <a:rPr lang="en-US" altLang="ko-KR" sz="1600" b="1" dirty="0">
                <a:solidFill>
                  <a:schemeClr val="bg1"/>
                </a:solidFill>
              </a:rPr>
              <a:t>LOCK_TIME</a:t>
            </a:r>
            <a:r>
              <a:rPr lang="en-US" altLang="ko-KR" sz="1600" dirty="0">
                <a:solidFill>
                  <a:schemeClr val="bg1"/>
                </a:solidFill>
              </a:rPr>
              <a:t> = 1 days;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mapping(address =&gt; uint256) public </a:t>
            </a:r>
            <a:r>
              <a:rPr lang="en-US" altLang="ko-KR" sz="1600" b="1" dirty="0">
                <a:solidFill>
                  <a:schemeClr val="bg1"/>
                </a:solidFill>
              </a:rPr>
              <a:t>lastWithdrawalTime</a:t>
            </a:r>
            <a:r>
              <a:rPr lang="en-US" altLang="ko-KR" sz="1600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6361" y="4740051"/>
            <a:ext cx="9439277" cy="107721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modifier onlyOwner() {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require(msg.sender == owner, "Only the owner can call this function.");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_;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8807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Faucet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6362" y="1143000"/>
            <a:ext cx="9439276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Key Functions</a:t>
            </a:r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1. Constructor Function</a:t>
            </a:r>
          </a:p>
          <a:p>
            <a:pPr algn="ctr"/>
            <a:endParaRPr lang="en-US" altLang="ko-KR" sz="800" b="1" dirty="0"/>
          </a:p>
          <a:p>
            <a:r>
              <a:rPr lang="en-US" altLang="ko-KR" dirty="0"/>
              <a:t>constructor() {</a:t>
            </a:r>
          </a:p>
          <a:p>
            <a:r>
              <a:rPr lang="en-US" altLang="ko-KR" dirty="0"/>
              <a:t>    owner = payable(msg.sender);</a:t>
            </a:r>
          </a:p>
          <a:p>
            <a:r>
              <a:rPr lang="en-US" altLang="ko-KR" dirty="0"/>
              <a:t>}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Sets the contract deployer as the owner during initialization.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In Solidity, a </a:t>
            </a:r>
            <a:r>
              <a:rPr lang="en-US" altLang="ko-KR" sz="1600" b="1" dirty="0">
                <a:solidFill>
                  <a:srgbClr val="C00000"/>
                </a:solidFill>
              </a:rPr>
              <a:t>constructor</a:t>
            </a:r>
            <a:r>
              <a:rPr lang="en-US" altLang="ko-KR" sz="1600" dirty="0"/>
              <a:t> is a special function that is </a:t>
            </a:r>
            <a:r>
              <a:rPr lang="en-US" altLang="ko-KR" sz="1600" b="1" dirty="0"/>
              <a:t>automatically executed only once</a:t>
            </a:r>
            <a:r>
              <a:rPr lang="en-US" altLang="ko-KR" sz="1600" dirty="0"/>
              <a:t> when a smart contract is deployed.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It is used to initialize the contract's state variables, set up initial conditions, or perform any one-time setup required for the contract.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altLang="ko-KR" sz="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b="1" dirty="0"/>
              <a:t>Key features of a </a:t>
            </a:r>
            <a:r>
              <a:rPr lang="en-US" altLang="ko-KR" b="1" dirty="0">
                <a:solidFill>
                  <a:srgbClr val="C00000"/>
                </a:solidFill>
              </a:rPr>
              <a:t>constructor</a:t>
            </a:r>
            <a:r>
              <a:rPr lang="en-US" altLang="ko-KR" b="1" dirty="0"/>
              <a:t> in Solidity: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Runs Only Once</a:t>
            </a:r>
            <a:r>
              <a:rPr lang="en-US" altLang="ko-KR" sz="1600" dirty="0"/>
              <a:t>: Executed automatically when the contract is deployed.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No Name</a:t>
            </a:r>
            <a:r>
              <a:rPr lang="en-US" altLang="ko-KR" sz="1600" dirty="0"/>
              <a:t>: Defined using the </a:t>
            </a:r>
            <a:r>
              <a:rPr lang="en-US" altLang="ko-KR" sz="1600" b="1" dirty="0">
                <a:solidFill>
                  <a:srgbClr val="C00000"/>
                </a:solidFill>
              </a:rPr>
              <a:t>constructor</a:t>
            </a:r>
            <a:r>
              <a:rPr lang="en-US" altLang="ko-KR" sz="1600" dirty="0"/>
              <a:t> keyword (since Solidity 0.4.22).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Optional</a:t>
            </a:r>
            <a:r>
              <a:rPr lang="en-US" altLang="ko-KR" sz="1600" dirty="0"/>
              <a:t>: A contract doesn't need a constructor if no initialization is required.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Can Take Arguments</a:t>
            </a:r>
            <a:r>
              <a:rPr lang="en-US" altLang="ko-KR" sz="1600" dirty="0"/>
              <a:t>: Allows setting initial values during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Public or Internal Visibility</a:t>
            </a:r>
            <a:r>
              <a:rPr lang="en-US" altLang="ko-KR" sz="1600" dirty="0"/>
              <a:t>: Can be </a:t>
            </a:r>
            <a:r>
              <a:rPr lang="en-US" altLang="ko-KR" sz="1600" b="1" dirty="0">
                <a:solidFill>
                  <a:srgbClr val="C00000"/>
                </a:solidFill>
              </a:rPr>
              <a:t>public</a:t>
            </a:r>
            <a:r>
              <a:rPr lang="en-US" altLang="ko-KR" sz="1600" dirty="0"/>
              <a:t> (default) or </a:t>
            </a:r>
            <a:r>
              <a:rPr lang="en-US" altLang="ko-KR" sz="1600" b="1" dirty="0">
                <a:solidFill>
                  <a:srgbClr val="C00000"/>
                </a:solidFill>
              </a:rPr>
              <a:t>internal</a:t>
            </a:r>
            <a:r>
              <a:rPr lang="en-US" altLang="ko-KR" sz="1600" dirty="0"/>
              <a:t> (if the contract is </a:t>
            </a:r>
            <a:r>
              <a:rPr lang="en-US" altLang="ko-KR" sz="1600" b="1" dirty="0">
                <a:solidFill>
                  <a:srgbClr val="C00000"/>
                </a:solidFill>
              </a:rPr>
              <a:t>abstract</a:t>
            </a:r>
            <a:r>
              <a:rPr lang="en-US" altLang="ko-KR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No Return Value</a:t>
            </a:r>
            <a:r>
              <a:rPr lang="en-US" altLang="ko-KR" sz="1600" dirty="0"/>
              <a:t>: Cannot return any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6363" y="2192357"/>
            <a:ext cx="9439276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constructor() {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owner = payable(msg.sender);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0306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Faucet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6362" y="921779"/>
            <a:ext cx="943927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Key Functions</a:t>
            </a:r>
          </a:p>
          <a:p>
            <a:pPr algn="ctr"/>
            <a:endParaRPr lang="en-US" altLang="ko-KR" sz="800" b="1" strike="sngStrike" dirty="0"/>
          </a:p>
          <a:p>
            <a:pPr algn="ctr"/>
            <a:r>
              <a:rPr lang="en-US" altLang="ko-KR" b="1" dirty="0"/>
              <a:t>2. Withdraw Function (Main Faucet Logic)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Checks if user has waited 24 hours since last withdrawal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Verifies contract has sufficient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Updates withdrawal timestamp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Sends 0.1 ETH to requester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Emits withdrawal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6362" y="1763732"/>
            <a:ext cx="9439276" cy="35394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function withdraw() external {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require(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    block.timestamp &gt;= lastWithdrawalTime[msg.sender] + LOCK_TIME,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    "You must wait 24 hours between withdrawals."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);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require(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    address(this).balance &gt;= WITHDRAWAL_AMOUNT,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    "Insufficient balance in the faucet."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);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lastWithdrawalTime[msg.sender] = block.timestamp;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payable(msg.sender).transfer(WITHDRAWAL_AMOUNT);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emit Withdrawal(msg.sender, WITHDRAWAL_AMOUNT);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3606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Faucet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6362" y="921779"/>
            <a:ext cx="943927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Key Functions</a:t>
            </a:r>
          </a:p>
          <a:p>
            <a:pPr algn="ctr"/>
            <a:endParaRPr lang="en-US" altLang="ko-KR" sz="800" b="1" strike="sngStrike" dirty="0"/>
          </a:p>
          <a:p>
            <a:pPr algn="ctr"/>
            <a:r>
              <a:rPr lang="en-US" altLang="ko-KR" b="1" dirty="0"/>
              <a:t>3. Owner Function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sz="800" strike="sngStrike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deposit()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: Allows owner to add funds to the faucet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withdrawAll()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: Lets owner retrieve all contract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b="1" dirty="0"/>
              <a:t>4. Receive Function</a:t>
            </a:r>
            <a:endParaRPr lang="en-US" altLang="ko-KR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Accepts ETH sent directly to the contract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The </a:t>
            </a:r>
            <a:r>
              <a:rPr lang="en-US" altLang="ko-KR" sz="1600" b="1" dirty="0">
                <a:solidFill>
                  <a:srgbClr val="C00000"/>
                </a:solidFill>
              </a:rPr>
              <a:t>receive() </a:t>
            </a:r>
            <a:r>
              <a:rPr lang="en-US" altLang="ko-KR" sz="1600" dirty="0"/>
              <a:t>function is a special function introduced in Solidity 0.6.0 to handle </a:t>
            </a:r>
            <a:r>
              <a:rPr lang="en-US" altLang="ko-KR" sz="1600" b="1" dirty="0"/>
              <a:t>plain Ether transfers</a:t>
            </a:r>
            <a:r>
              <a:rPr lang="en-US" altLang="ko-KR" sz="1600" dirty="0"/>
              <a:t> (when someone sends Ether to the contract </a:t>
            </a:r>
            <a:r>
              <a:rPr lang="en-US" altLang="ko-KR" sz="1600" b="1" dirty="0"/>
              <a:t>without any transaction data</a:t>
            </a:r>
            <a:r>
              <a:rPr lang="en-US" altLang="ko-KR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It is designed to replace part of the old </a:t>
            </a:r>
            <a:r>
              <a:rPr lang="en-US" altLang="ko-KR" sz="1600" b="1" dirty="0">
                <a:solidFill>
                  <a:srgbClr val="C00000"/>
                </a:solidFill>
              </a:rPr>
              <a:t>fallback() </a:t>
            </a:r>
            <a:r>
              <a:rPr lang="en-US" altLang="ko-KR" sz="1600" dirty="0"/>
              <a:t>function’s behavior.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6362" y="1763732"/>
            <a:ext cx="9439276" cy="124649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chemeClr val="bg1"/>
                </a:solidFill>
              </a:rPr>
              <a:t>function deposit() external payable onlyOwner {}</a:t>
            </a:r>
          </a:p>
          <a:p>
            <a:endParaRPr lang="en-US" altLang="ko-KR" sz="1500" dirty="0">
              <a:solidFill>
                <a:schemeClr val="bg1"/>
              </a:solidFill>
            </a:endParaRPr>
          </a:p>
          <a:p>
            <a:r>
              <a:rPr lang="en-US" altLang="ko-KR" sz="1500" dirty="0">
                <a:solidFill>
                  <a:schemeClr val="bg1"/>
                </a:solidFill>
              </a:rPr>
              <a:t>function withdrawAll() external onlyOwner {</a:t>
            </a:r>
          </a:p>
          <a:p>
            <a:r>
              <a:rPr lang="en-US" altLang="ko-KR" sz="1500" dirty="0">
                <a:solidFill>
                  <a:schemeClr val="bg1"/>
                </a:solidFill>
              </a:rPr>
              <a:t>    owner.transfer(address(this).balance);</a:t>
            </a:r>
          </a:p>
          <a:p>
            <a:r>
              <a:rPr lang="en-US" altLang="ko-KR" sz="15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6362" y="4192607"/>
            <a:ext cx="9439276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altLang="ko-KR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receive() external payable {}</a:t>
            </a:r>
          </a:p>
          <a:p>
            <a:endParaRPr lang="en-US" altLang="ko-K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691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Faucet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6362" y="921779"/>
            <a:ext cx="943927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Key Functions</a:t>
            </a:r>
          </a:p>
          <a:p>
            <a:pPr algn="ctr"/>
            <a:endParaRPr lang="en-US" altLang="ko-KR" sz="1600" b="1" strike="sngStrike" dirty="0"/>
          </a:p>
          <a:p>
            <a:pPr algn="ctr"/>
            <a:r>
              <a:rPr lang="en-US" altLang="ko-KR" sz="1600" b="1" dirty="0"/>
              <a:t>4. Receive Function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Accepts ETH sent directly to the contract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The </a:t>
            </a:r>
            <a:r>
              <a:rPr lang="en-US" altLang="ko-KR" sz="1600" b="1" dirty="0">
                <a:solidFill>
                  <a:srgbClr val="C00000"/>
                </a:solidFill>
              </a:rPr>
              <a:t>receive() </a:t>
            </a:r>
            <a:r>
              <a:rPr lang="en-US" altLang="ko-KR" sz="1600" dirty="0"/>
              <a:t>function is a special function introduced in Solidity 0.6.0 to handle </a:t>
            </a:r>
            <a:r>
              <a:rPr lang="en-US" altLang="ko-KR" sz="1600" b="1" dirty="0"/>
              <a:t>plain Ether transfers</a:t>
            </a:r>
            <a:r>
              <a:rPr lang="en-US" altLang="ko-KR" sz="1600" dirty="0"/>
              <a:t> (when someone sends Ether to the contract </a:t>
            </a:r>
            <a:r>
              <a:rPr lang="en-US" altLang="ko-KR" sz="1600" b="1" dirty="0"/>
              <a:t>without any transaction data</a:t>
            </a:r>
            <a:r>
              <a:rPr lang="en-US" altLang="ko-KR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It is designed to replace part of the old </a:t>
            </a:r>
            <a:r>
              <a:rPr lang="en-US" altLang="ko-KR" sz="1600" b="1" dirty="0">
                <a:solidFill>
                  <a:srgbClr val="C00000"/>
                </a:solidFill>
              </a:rPr>
              <a:t>fallback() </a:t>
            </a:r>
            <a:r>
              <a:rPr lang="en-US" altLang="ko-KR" sz="1600" dirty="0"/>
              <a:t>function’s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1600" b="1" dirty="0"/>
              <a:t>Key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Trigger Condition: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ko-KR" sz="1600" dirty="0"/>
              <a:t>Executed </a:t>
            </a:r>
            <a:r>
              <a:rPr lang="en-US" altLang="ko-KR" sz="1600" b="1" dirty="0"/>
              <a:t>only</a:t>
            </a:r>
            <a:r>
              <a:rPr lang="en-US" altLang="ko-KR" sz="1600" dirty="0"/>
              <a:t> when Ether is sent to the contract </a:t>
            </a:r>
            <a:r>
              <a:rPr lang="en-US" altLang="ko-KR" sz="1600" b="1" dirty="0"/>
              <a:t>with empty </a:t>
            </a:r>
            <a:r>
              <a:rPr lang="en-US" altLang="ko-KR" sz="1600" b="1" dirty="0">
                <a:solidFill>
                  <a:srgbClr val="C00000"/>
                </a:solidFill>
              </a:rPr>
              <a:t>msg.data</a:t>
            </a:r>
            <a:r>
              <a:rPr lang="en-US" altLang="ko-KR" sz="1600" b="1" dirty="0"/>
              <a:t> </a:t>
            </a:r>
            <a:r>
              <a:rPr lang="en-US" altLang="ko-KR" sz="1600" dirty="0"/>
              <a:t>(e.g., via </a:t>
            </a:r>
            <a:r>
              <a:rPr lang="en-US" altLang="ko-KR" sz="1600" b="1" dirty="0">
                <a:solidFill>
                  <a:srgbClr val="C00000"/>
                </a:solidFill>
              </a:rPr>
              <a:t>send() </a:t>
            </a:r>
            <a:r>
              <a:rPr lang="en-US" altLang="ko-KR" sz="1600" dirty="0"/>
              <a:t>or </a:t>
            </a:r>
            <a:r>
              <a:rPr lang="en-US" altLang="ko-KR" sz="1600" b="1" dirty="0">
                <a:solidFill>
                  <a:srgbClr val="C00000"/>
                </a:solidFill>
              </a:rPr>
              <a:t>transfer()</a:t>
            </a:r>
            <a:r>
              <a:rPr lang="en-US" altLang="ko-KR" sz="1600" dirty="0"/>
              <a:t>).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altLang="ko-KR" sz="1600" dirty="0"/>
              <a:t>If </a:t>
            </a:r>
            <a:r>
              <a:rPr lang="en-US" altLang="ko-KR" sz="1600" b="1" dirty="0">
                <a:solidFill>
                  <a:srgbClr val="C00000"/>
                </a:solidFill>
              </a:rPr>
              <a:t>receive() </a:t>
            </a:r>
            <a:r>
              <a:rPr lang="en-US" altLang="ko-KR" sz="1600" dirty="0"/>
              <a:t>doesn’t exist, the </a:t>
            </a:r>
            <a:r>
              <a:rPr lang="en-US" altLang="ko-KR" sz="1600" b="1" dirty="0">
                <a:solidFill>
                  <a:srgbClr val="C00000"/>
                </a:solidFill>
              </a:rPr>
              <a:t>fallback() </a:t>
            </a:r>
            <a:r>
              <a:rPr lang="en-US" altLang="ko-KR" sz="1600" dirty="0"/>
              <a:t>function is called.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Must be</a:t>
            </a:r>
            <a:r>
              <a:rPr lang="en-US" altLang="ko-KR" sz="1600" b="1" dirty="0">
                <a:solidFill>
                  <a:srgbClr val="C00000"/>
                </a:solidFill>
              </a:rPr>
              <a:t> payable</a:t>
            </a:r>
            <a:r>
              <a:rPr lang="en-US" altLang="ko-KR" sz="1600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If not marked </a:t>
            </a:r>
            <a:r>
              <a:rPr lang="en-US" altLang="ko-KR" sz="1600" b="1" dirty="0">
                <a:solidFill>
                  <a:srgbClr val="C00000"/>
                </a:solidFill>
              </a:rPr>
              <a:t>payable</a:t>
            </a:r>
            <a:r>
              <a:rPr lang="en-US" altLang="ko-KR" sz="1600" dirty="0"/>
              <a:t>, the contract will reject plain Ether transfers.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No Arguments or Return Values</a:t>
            </a:r>
            <a:r>
              <a:rPr lang="en-US" altLang="ko-KR" sz="1600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Cannot take inputs or return data (but can emit events or modify state).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6362" y="1706609"/>
            <a:ext cx="9439276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altLang="ko-KR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receive() external payable {}</a:t>
            </a:r>
          </a:p>
          <a:p>
            <a:endParaRPr lang="en-US" altLang="ko-K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565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Faucet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6362" y="921779"/>
            <a:ext cx="94392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Security Features</a:t>
            </a:r>
          </a:p>
          <a:p>
            <a:pPr algn="ctr"/>
            <a:endParaRPr lang="en-US" altLang="ko-KR" sz="800" b="1" strike="sngStrik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Access Control</a:t>
            </a:r>
            <a:r>
              <a:rPr lang="en-US" altLang="ko-KR" dirty="0"/>
              <a:t>: Only owner can deposit/withdraw all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Rate Limiting</a:t>
            </a:r>
            <a:r>
              <a:rPr lang="en-US" altLang="ko-KR" dirty="0"/>
              <a:t>: 24-hour cooldown prevents abuse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Balance Checks</a:t>
            </a:r>
            <a:r>
              <a:rPr lang="en-US" altLang="ko-KR" dirty="0"/>
              <a:t>: Ensures faucet has funds before sending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Immutable Parameters</a:t>
            </a:r>
            <a:r>
              <a:rPr lang="en-US" altLang="ko-KR" dirty="0"/>
              <a:t>: Withdrawal amount and lock time are constants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b="1" dirty="0"/>
              <a:t>Typical Usage Flow</a:t>
            </a:r>
          </a:p>
          <a:p>
            <a:endParaRPr lang="en-US" altLang="ko-KR" sz="800" strike="sngStrike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Owner deploys contract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Owner funds the contract (via deposit() or direct transfer)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Users call withdraw() to get 0.1 ETH (once per day)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Owner can add more funds or withdraw remaining balance</a:t>
            </a:r>
          </a:p>
          <a:p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61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 flipH="1">
            <a:off x="0" y="55244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Faucet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6362" y="921779"/>
            <a:ext cx="943927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Home Assignment</a:t>
            </a:r>
          </a:p>
          <a:p>
            <a:pPr algn="ctr"/>
            <a:endParaRPr lang="en-US" altLang="ko-KR" b="1" dirty="0"/>
          </a:p>
          <a:p>
            <a:endParaRPr lang="en-US" altLang="ko-KR" sz="800" strike="sngStrike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Try to understand the </a:t>
            </a:r>
            <a:r>
              <a:rPr lang="en-US" altLang="ko-KR" dirty="0" err="1"/>
              <a:t>Faucet.sol</a:t>
            </a:r>
            <a:r>
              <a:rPr lang="en-US" altLang="ko-KR" dirty="0"/>
              <a:t> code.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Check the change of values of msg.sender and msg.value.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Your team will present what your team members understood next time.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643356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58824</TotalTime>
  <Words>3427</Words>
  <Application>Microsoft Office PowerPoint</Application>
  <PresentationFormat>와이드스크린</PresentationFormat>
  <Paragraphs>519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Arial Unicode MS</vt:lpstr>
      <vt:lpstr>DeepSeek-CJK-patch</vt:lpstr>
      <vt:lpstr>Arial</vt:lpstr>
      <vt:lpstr>Lato</vt:lpstr>
      <vt:lpstr>Roboto Mono</vt:lpstr>
      <vt:lpstr>Trebuchet MS</vt:lpstr>
      <vt:lpstr>Wingdings</vt:lpstr>
      <vt:lpstr>Wingdings 3</vt:lpstr>
      <vt:lpstr>패싯</vt:lpstr>
      <vt:lpstr> Lecture 5 Solidity and Remix 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핀테크 개론</dc:title>
  <dc:creator>khj-@korea.ac.kr</dc:creator>
  <cp:lastModifiedBy>이창연(학부생-지능형ICT융합전공)</cp:lastModifiedBy>
  <cp:revision>384</cp:revision>
  <dcterms:created xsi:type="dcterms:W3CDTF">2024-03-18T13:10:56Z</dcterms:created>
  <dcterms:modified xsi:type="dcterms:W3CDTF">2026-03-30T02:35:22Z</dcterms:modified>
</cp:coreProperties>
</file>