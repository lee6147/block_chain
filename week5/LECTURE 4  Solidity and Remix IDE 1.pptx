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2" r:id="rId3"/>
    <p:sldId id="295" r:id="rId4"/>
    <p:sldId id="296" r:id="rId5"/>
    <p:sldId id="297" r:id="rId6"/>
    <p:sldId id="298" r:id="rId7"/>
    <p:sldId id="311" r:id="rId8"/>
    <p:sldId id="299" r:id="rId9"/>
    <p:sldId id="301" r:id="rId10"/>
    <p:sldId id="312" r:id="rId11"/>
    <p:sldId id="313" r:id="rId12"/>
    <p:sldId id="300" r:id="rId13"/>
    <p:sldId id="314" r:id="rId14"/>
    <p:sldId id="303" r:id="rId15"/>
    <p:sldId id="315" r:id="rId16"/>
    <p:sldId id="316" r:id="rId17"/>
    <p:sldId id="317" r:id="rId18"/>
    <p:sldId id="304" r:id="rId19"/>
    <p:sldId id="306" r:id="rId20"/>
    <p:sldId id="307" r:id="rId21"/>
    <p:sldId id="294" r:id="rId22"/>
    <p:sldId id="309" r:id="rId23"/>
    <p:sldId id="310" r:id="rId24"/>
    <p:sldId id="30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07067" y="642409"/>
            <a:ext cx="7766936" cy="1646302"/>
          </a:xfrm>
        </p:spPr>
        <p:txBody>
          <a:bodyPr/>
          <a:lstStyle/>
          <a:p>
            <a:pPr algn="ctr"/>
            <a:br>
              <a:rPr lang="en-US" altLang="ko-KR" dirty="0"/>
            </a:br>
            <a:r>
              <a:rPr lang="en-US" altLang="ko-KR" sz="2400" dirty="0"/>
              <a:t>LECTUR 4</a:t>
            </a:r>
            <a:br>
              <a:rPr lang="en-US" altLang="ko-KR"/>
            </a:br>
            <a:r>
              <a:rPr lang="en-US" altLang="ko-KR"/>
              <a:t>Solidity and Remix IDE 1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351" y="4109643"/>
            <a:ext cx="2998649" cy="2732103"/>
          </a:xfrm>
          <a:prstGeom prst="rect">
            <a:avLst/>
          </a:prstGeom>
        </p:spPr>
      </p:pic>
      <p:sp>
        <p:nvSpPr>
          <p:cNvPr id="6" name="부제목 5"/>
          <p:cNvSpPr>
            <a:spLocks noGrp="1"/>
          </p:cNvSpPr>
          <p:nvPr>
            <p:ph type="subTitle" idx="1"/>
          </p:nvPr>
        </p:nvSpPr>
        <p:spPr>
          <a:xfrm>
            <a:off x="1507067" y="2673277"/>
            <a:ext cx="7766936" cy="1096899"/>
          </a:xfrm>
        </p:spPr>
        <p:txBody>
          <a:bodyPr>
            <a:noAutofit/>
          </a:bodyPr>
          <a:lstStyle/>
          <a:p>
            <a:pPr algn="ctr"/>
            <a:r>
              <a:rPr lang="en-US" altLang="ko-KR" dirty="0" err="1">
                <a:solidFill>
                  <a:schemeClr val="accent1"/>
                </a:solidFill>
              </a:rPr>
              <a:t>Hyoung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 err="1">
                <a:solidFill>
                  <a:schemeClr val="accent1"/>
                </a:solidFill>
              </a:rPr>
              <a:t>Joong</a:t>
            </a:r>
            <a:r>
              <a:rPr lang="en-US" altLang="ko-KR" dirty="0">
                <a:solidFill>
                  <a:schemeClr val="accent1"/>
                </a:solidFill>
              </a:rPr>
              <a:t> Kim</a:t>
            </a:r>
          </a:p>
          <a:p>
            <a:pPr algn="ctr"/>
            <a:r>
              <a:rPr lang="en-US" altLang="ko-KR" dirty="0" err="1">
                <a:solidFill>
                  <a:schemeClr val="accent1"/>
                </a:solidFill>
              </a:rPr>
              <a:t>Kookmin</a:t>
            </a:r>
            <a:r>
              <a:rPr lang="en-US" altLang="ko-KR" dirty="0">
                <a:solidFill>
                  <a:schemeClr val="accent1"/>
                </a:solidFill>
              </a:rPr>
              <a:t> University</a:t>
            </a:r>
          </a:p>
          <a:p>
            <a:pPr algn="ctr"/>
            <a:endParaRPr lang="en-US" altLang="ko-KR" dirty="0">
              <a:solidFill>
                <a:schemeClr val="accent1"/>
              </a:solidFill>
            </a:endParaRPr>
          </a:p>
          <a:p>
            <a:pPr algn="ctr"/>
            <a:r>
              <a:rPr lang="en-US" altLang="ko-KR" dirty="0">
                <a:solidFill>
                  <a:schemeClr val="accent1"/>
                </a:solidFill>
              </a:rPr>
              <a:t>March 31, 2026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Mastering Ethere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3717545"/>
            <a:ext cx="238125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36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24613" y="87660"/>
            <a:ext cx="5524500" cy="28623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pragma solidity ^0.8.25;</a:t>
            </a:r>
          </a:p>
          <a:p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contract HelloWorld {</a:t>
            </a:r>
          </a:p>
          <a:p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    string public greet = "Hello World";</a:t>
            </a:r>
          </a:p>
          <a:p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}</a:t>
            </a: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45" y="3095582"/>
            <a:ext cx="6467321" cy="261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4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1" y="1257257"/>
            <a:ext cx="5661130" cy="2292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9671" y="4267200"/>
            <a:ext cx="1084272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SPDX (Software Package Data Exchange)</a:t>
            </a:r>
            <a:r>
              <a:rPr lang="en-US" altLang="ko-KR" dirty="0"/>
              <a:t>: A standard format for declaring software licenses.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MIT License</a:t>
            </a:r>
            <a:r>
              <a:rPr lang="en-US" altLang="ko-KR" dirty="0"/>
              <a:t>: A permissive open-source license allowing free use/modification, with minimal restrictions (only requiring attribution).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Compiler Requirement</a:t>
            </a:r>
            <a:r>
              <a:rPr lang="en-US" altLang="ko-KR" dirty="0"/>
              <a:t>: Since Solidity v0.6.8, the SPDX identifier is </a:t>
            </a:r>
            <a:r>
              <a:rPr lang="en-US" altLang="ko-KR" b="1" dirty="0"/>
              <a:t>recommended</a:t>
            </a:r>
            <a:r>
              <a:rPr lang="en-US" altLang="ko-KR" dirty="0"/>
              <a:t> (though not mandatory) to avoid compiler warnings.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If you omit license information, the Solidity compiler shows a </a:t>
            </a:r>
            <a:r>
              <a:rPr lang="en-US" altLang="ko-KR" b="1" dirty="0"/>
              <a:t>warning</a:t>
            </a:r>
            <a:r>
              <a:rPr lang="en-US" altLang="ko-KR" dirty="0"/>
              <a:t> (not an error).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85875" y="1333500"/>
            <a:ext cx="3448050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꺾인 연결선 4"/>
          <p:cNvCxnSpPr>
            <a:endCxn id="2" idx="1"/>
          </p:cNvCxnSpPr>
          <p:nvPr/>
        </p:nvCxnSpPr>
        <p:spPr>
          <a:xfrm rot="5400000">
            <a:off x="-816458" y="3042029"/>
            <a:ext cx="3658463" cy="546204"/>
          </a:xfrm>
          <a:prstGeom prst="bentConnector4">
            <a:avLst>
              <a:gd name="adj1" fmla="val -781"/>
              <a:gd name="adj2" fmla="val 141852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86550" y="1257257"/>
            <a:ext cx="5334000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Alternative Licenses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GPL-3.0 - (</a:t>
            </a:r>
            <a:r>
              <a:rPr lang="en-US" altLang="ko-KR" sz="1600" dirty="0" err="1"/>
              <a:t>Copyleft</a:t>
            </a:r>
            <a:r>
              <a:rPr lang="en-US" altLang="ko-KR" sz="1600" dirty="0"/>
              <a:t>, requires derivative works to be open-source).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Unlicensed - (Proprietary, no permissions granted).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Apache-2.0 - (Similar to MIT but with patent protections).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548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1" y="1257257"/>
            <a:ext cx="5661130" cy="2292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9671" y="4267200"/>
            <a:ext cx="1084272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Purpose</a:t>
            </a:r>
            <a:r>
              <a:rPr lang="en-US" altLang="ko-KR" dirty="0"/>
              <a:t>: “</a:t>
            </a:r>
            <a:r>
              <a:rPr lang="en-US" altLang="ko-KR" dirty="0">
                <a:solidFill>
                  <a:srgbClr val="C00000"/>
                </a:solidFill>
              </a:rPr>
              <a:t>pragma</a:t>
            </a:r>
            <a:r>
              <a:rPr lang="en-US" altLang="ko-KR" dirty="0"/>
              <a:t>” tells the Solidity compiler which version to use (or accept) for the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Caret (</a:t>
            </a:r>
            <a:r>
              <a:rPr lang="en-US" altLang="ko-KR" b="1" dirty="0">
                <a:solidFill>
                  <a:srgbClr val="C00000"/>
                </a:solidFill>
              </a:rPr>
              <a:t>^</a:t>
            </a:r>
            <a:r>
              <a:rPr lang="en-US" altLang="ko-KR" b="1" dirty="0"/>
              <a:t>) Symbol</a:t>
            </a:r>
            <a:r>
              <a:rPr lang="en-US" altLang="ko-KR" dirty="0"/>
              <a:t>: Means the code is compatible with Solidity 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</a:rPr>
              <a:t>^0.8.25 </a:t>
            </a:r>
            <a:r>
              <a:rPr lang="en-US" altLang="ko-KR" b="1" dirty="0"/>
              <a:t>Explains</a:t>
            </a:r>
            <a:r>
              <a:rPr lang="en-US" altLang="ko-KR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From 0.0.25 up to (but not including) 0.9.0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Example: 0.8.25, 0.8.26, 0.8.29, but not 0.9.0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Fixed Version: </a:t>
            </a:r>
            <a:r>
              <a:rPr lang="en-US" altLang="ko-KR" dirty="0">
                <a:solidFill>
                  <a:srgbClr val="C00000"/>
                </a:solidFill>
              </a:rPr>
              <a:t>pragma solidity 0.8.26</a:t>
            </a:r>
            <a:r>
              <a:rPr lang="en-US" altLang="ko-KR" dirty="0"/>
              <a:t>; (only accepts exactly 0.8.26)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Version Range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C00000"/>
                </a:solidFill>
              </a:rPr>
              <a:t>pragma solidity &gt;=0.8.26 &lt;0.9.0 </a:t>
            </a:r>
            <a:r>
              <a:rPr lang="en-US" altLang="ko-KR" dirty="0"/>
              <a:t>(same as ^ but explicit)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85875" y="1581681"/>
            <a:ext cx="3448050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꺾인 연결선 9"/>
          <p:cNvCxnSpPr>
            <a:stCxn id="5" idx="1"/>
            <a:endCxn id="2" idx="1"/>
          </p:cNvCxnSpPr>
          <p:nvPr/>
        </p:nvCxnSpPr>
        <p:spPr>
          <a:xfrm rot="10800000" flipV="1">
            <a:off x="739671" y="1715031"/>
            <a:ext cx="546204" cy="3567832"/>
          </a:xfrm>
          <a:prstGeom prst="bentConnector3">
            <a:avLst>
              <a:gd name="adj1" fmla="val 141852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7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1" y="1257257"/>
            <a:ext cx="5661130" cy="2292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9671" y="3885626"/>
            <a:ext cx="10842729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Every smart contract</a:t>
            </a:r>
            <a:r>
              <a:rPr lang="en-US" altLang="ko-KR" dirty="0"/>
              <a:t> begins with the </a:t>
            </a:r>
            <a:r>
              <a:rPr lang="en-US" altLang="ko-KR" dirty="0">
                <a:solidFill>
                  <a:srgbClr val="C00000"/>
                </a:solidFill>
              </a:rPr>
              <a:t>contract</a:t>
            </a:r>
            <a:r>
              <a:rPr lang="en-US" altLang="ko-KR" dirty="0"/>
              <a:t> keyword, followed by the contract's name and its code block.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</a:rPr>
              <a:t>contract</a:t>
            </a:r>
            <a:r>
              <a:rPr lang="en-US" altLang="ko-KR" dirty="0"/>
              <a:t>: Declares a smart contract (similar to </a:t>
            </a:r>
            <a:r>
              <a:rPr lang="en-US" altLang="ko-KR" dirty="0">
                <a:solidFill>
                  <a:srgbClr val="C00000"/>
                </a:solidFill>
              </a:rPr>
              <a:t>class</a:t>
            </a:r>
            <a:r>
              <a:rPr lang="en-US" altLang="ko-KR" dirty="0"/>
              <a:t> in other language)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</a:rPr>
              <a:t>HelloWorld</a:t>
            </a:r>
            <a:r>
              <a:rPr lang="en-US" altLang="ko-KR" dirty="0"/>
              <a:t>: The contract name (always starts with a capital letter by convention).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</a:rPr>
              <a:t>{}</a:t>
            </a:r>
            <a:r>
              <a:rPr lang="en-US" altLang="ko-KR" dirty="0"/>
              <a:t>: Contains the contract's code (storage, functions, events,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algn="ctr"/>
            <a:r>
              <a:rPr lang="en-US" altLang="ko-KR" b="1" dirty="0"/>
              <a:t>Key Features of the </a:t>
            </a:r>
            <a:r>
              <a:rPr lang="en-US" altLang="ko-KR" b="1" dirty="0">
                <a:solidFill>
                  <a:srgbClr val="C00000"/>
                </a:solidFill>
              </a:rPr>
              <a:t>contract</a:t>
            </a:r>
            <a:r>
              <a:rPr lang="en-US" altLang="ko-KR" b="1" dirty="0"/>
              <a:t>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On-Chain Deployment</a:t>
            </a:r>
            <a:r>
              <a:rPr lang="en-US" altLang="ko-KR" dirty="0"/>
              <a:t>: Contracts compiled to EVM bytecode and deployed to the blockchain.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Stateful</a:t>
            </a:r>
            <a:r>
              <a:rPr lang="en-US" altLang="ko-KR" dirty="0"/>
              <a:t>: Can hold persistent data (state variables) and ETH balances.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Interoperable</a:t>
            </a:r>
            <a:r>
              <a:rPr lang="en-US" altLang="ko-KR" dirty="0"/>
              <a:t>: Can call other contracts or be called by users/other contracts.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85875" y="2096031"/>
            <a:ext cx="3448050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꺾인 연결선 9"/>
          <p:cNvCxnSpPr>
            <a:stCxn id="5" idx="1"/>
            <a:endCxn id="2" idx="1"/>
          </p:cNvCxnSpPr>
          <p:nvPr/>
        </p:nvCxnSpPr>
        <p:spPr>
          <a:xfrm rot="10800000" flipV="1">
            <a:off x="739671" y="2229381"/>
            <a:ext cx="546204" cy="3010462"/>
          </a:xfrm>
          <a:prstGeom prst="bentConnector3">
            <a:avLst>
              <a:gd name="adj1" fmla="val 141852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77013" y="687826"/>
            <a:ext cx="536733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When You Deploy a contract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Compiled to </a:t>
            </a:r>
            <a:r>
              <a:rPr lang="en-US" altLang="ko-KR" sz="1600" b="1" dirty="0"/>
              <a:t>EVM bytecode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Given a </a:t>
            </a:r>
            <a:r>
              <a:rPr lang="en-US" altLang="ko-KR" sz="1600" b="1" dirty="0"/>
              <a:t>unique address</a:t>
            </a:r>
            <a:r>
              <a:rPr lang="en-US" altLang="ko-KR" sz="1600" dirty="0"/>
              <a:t> on the blockchain.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Becomes immutable (code can’t change after deployment).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algn="ctr"/>
            <a:r>
              <a:rPr lang="en-US" altLang="ko-KR" dirty="0"/>
              <a:t>Key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One contract per file</a:t>
            </a:r>
            <a:r>
              <a:rPr lang="en-US" altLang="ko-KR" sz="1600" dirty="0"/>
              <a:t> (though you can define multiple in one file).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Inheritance supported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rgbClr val="C00000"/>
                </a:solidFill>
              </a:rPr>
              <a:t>contract Child </a:t>
            </a:r>
            <a:r>
              <a:rPr lang="en-US" altLang="ko-KR" sz="1600" dirty="0"/>
              <a:t>is </a:t>
            </a:r>
            <a:r>
              <a:rPr lang="en-US" altLang="ko-KR" sz="1600" dirty="0">
                <a:solidFill>
                  <a:srgbClr val="C00000"/>
                </a:solidFill>
              </a:rPr>
              <a:t>contract Parent {…}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Constructors: Use constructor() for initialization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9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1" y="1257257"/>
            <a:ext cx="5661130" cy="229289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04855" y="2591331"/>
            <a:ext cx="4172141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꺾인 연결선 9"/>
          <p:cNvCxnSpPr>
            <a:stCxn id="5" idx="1"/>
            <a:endCxn id="4" idx="1"/>
          </p:cNvCxnSpPr>
          <p:nvPr/>
        </p:nvCxnSpPr>
        <p:spPr>
          <a:xfrm rot="10800000" flipV="1">
            <a:off x="739669" y="2724680"/>
            <a:ext cx="765187" cy="1947649"/>
          </a:xfrm>
          <a:prstGeom prst="bentConnector3">
            <a:avLst>
              <a:gd name="adj1" fmla="val 129875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5984"/>
              </p:ext>
            </p:extLst>
          </p:nvPr>
        </p:nvGraphicFramePr>
        <p:xfrm>
          <a:off x="739668" y="3745230"/>
          <a:ext cx="109951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315">
                  <a:extLst>
                    <a:ext uri="{9D8B030D-6E8A-4147-A177-3AD203B41FA5}">
                      <a16:colId xmlns:a16="http://schemas.microsoft.com/office/drawing/2014/main" val="3660858730"/>
                    </a:ext>
                  </a:extLst>
                </a:gridCol>
                <a:gridCol w="8065816">
                  <a:extLst>
                    <a:ext uri="{9D8B030D-6E8A-4147-A177-3AD203B41FA5}">
                      <a16:colId xmlns:a16="http://schemas.microsoft.com/office/drawing/2014/main" val="2129434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Part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Meaning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3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string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variable type (a dynamic UTF-8 string).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13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public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 the variable readable by anyone (auto-generates a getter function).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254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greet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variable name (customizable, e.g., 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800" b="0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welcomeText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803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= “Hello World”;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 value assigned to the variable (stored on-chain permanently).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98986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9668" y="5810250"/>
            <a:ext cx="10995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On-Chain Storage</a:t>
            </a:r>
            <a:r>
              <a:rPr lang="en-US" altLang="ko-KR" dirty="0"/>
              <a:t>: The </a:t>
            </a:r>
            <a:r>
              <a:rPr lang="en-US" altLang="ko-KR" dirty="0">
                <a:solidFill>
                  <a:srgbClr val="C00000"/>
                </a:solidFill>
              </a:rPr>
              <a:t>string</a:t>
            </a:r>
            <a:r>
              <a:rPr lang="en-US" altLang="ko-KR" dirty="0"/>
              <a:t> is stored in the contract’s storage (costs gas to deploy/modify).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Deployment</a:t>
            </a:r>
            <a:r>
              <a:rPr lang="en-US" altLang="ko-KR" dirty="0"/>
              <a:t>: Storing the string on-chain consumes gas (more expensive than </a:t>
            </a:r>
            <a:r>
              <a:rPr lang="en-US" altLang="ko-KR" dirty="0">
                <a:solidFill>
                  <a:srgbClr val="C00000"/>
                </a:solidFill>
              </a:rPr>
              <a:t>memory</a:t>
            </a:r>
            <a:r>
              <a:rPr lang="en-US" altLang="ko-KR" dirty="0"/>
              <a:t> variable.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028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301131" y="1074181"/>
            <a:ext cx="3985127" cy="3812146"/>
            <a:chOff x="1162050" y="931306"/>
            <a:chExt cx="3985127" cy="381214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0274" y="931306"/>
              <a:ext cx="3906903" cy="3812146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1162050" y="2390775"/>
              <a:ext cx="733425" cy="55245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10310"/>
            <a:ext cx="3429686" cy="684769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489" y="0"/>
            <a:ext cx="3453094" cy="68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69" y="1022850"/>
            <a:ext cx="7969451" cy="325126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591523" y="2315636"/>
            <a:ext cx="4589355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924675" y="104773"/>
            <a:ext cx="4981575" cy="28931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pragma solidity ^0.8.26;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contract HelloWorld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// State variable to store the greeting message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string private _greeting = "Hello, World!";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    // Public function to return the greeting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function greet() public view returns (string memory)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    return _greeting;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}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98602"/>
              </p:ext>
            </p:extLst>
          </p:nvPr>
        </p:nvGraphicFramePr>
        <p:xfrm>
          <a:off x="739668" y="4375183"/>
          <a:ext cx="109951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315">
                  <a:extLst>
                    <a:ext uri="{9D8B030D-6E8A-4147-A177-3AD203B41FA5}">
                      <a16:colId xmlns:a16="http://schemas.microsoft.com/office/drawing/2014/main" val="3660858730"/>
                    </a:ext>
                  </a:extLst>
                </a:gridCol>
                <a:gridCol w="8065816">
                  <a:extLst>
                    <a:ext uri="{9D8B030D-6E8A-4147-A177-3AD203B41FA5}">
                      <a16:colId xmlns:a16="http://schemas.microsoft.com/office/drawing/2014/main" val="2129434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Part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Meaning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3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private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 modifier (only accessible within this contract)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254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_greeting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 name (underscore prefix is convention for private variables)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803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= “Hello, World”;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 value assigned to the variable (stored on-chain permanently).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989866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/>
          <p:nvPr/>
        </p:nvCxnSpPr>
        <p:spPr>
          <a:xfrm rot="5400000">
            <a:off x="-168342" y="3356997"/>
            <a:ext cx="2667876" cy="851856"/>
          </a:xfrm>
          <a:prstGeom prst="bentConnector4">
            <a:avLst>
              <a:gd name="adj1" fmla="val -317"/>
              <a:gd name="adj2" fmla="val 126836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1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808329"/>
              </p:ext>
            </p:extLst>
          </p:nvPr>
        </p:nvGraphicFramePr>
        <p:xfrm>
          <a:off x="1403350" y="44534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83688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5493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03833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8389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storage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calldata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11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Persistence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Permanent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Temporary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Temporary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984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Mutability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Mutable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Mutable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Immutable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98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Gas Cost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High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Medium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Lowest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65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Typical Use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State variables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Local variables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External calls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66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Assignment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Reference types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Copy by</a:t>
                      </a:r>
                      <a:r>
                        <a:rPr lang="en-US" altLang="ko-KR" baseline="0" dirty="0"/>
                        <a:t> value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Reference types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8619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69" y="1022850"/>
            <a:ext cx="7969451" cy="32512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24675" y="104773"/>
            <a:ext cx="4981575" cy="28931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pragma solidity ^0.8.26;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contract HelloWorld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// State variable to store the greeting message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string private _greeting = "Hello, World!";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    // Public function to return the greeting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function greet() public view returns (string memory)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    return _greeting;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}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181725" y="2997873"/>
            <a:ext cx="666750" cy="32635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6515100" y="3324225"/>
            <a:ext cx="0" cy="112924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0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69" y="1022850"/>
            <a:ext cx="7969451" cy="3251262"/>
          </a:xfrm>
          <a:prstGeom prst="rect">
            <a:avLst/>
          </a:prstGeom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947721"/>
              </p:ext>
            </p:extLst>
          </p:nvPr>
        </p:nvGraphicFramePr>
        <p:xfrm>
          <a:off x="577741" y="4375183"/>
          <a:ext cx="1120468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935">
                  <a:extLst>
                    <a:ext uri="{9D8B030D-6E8A-4147-A177-3AD203B41FA5}">
                      <a16:colId xmlns:a16="http://schemas.microsoft.com/office/drawing/2014/main" val="1958825807"/>
                    </a:ext>
                  </a:extLst>
                </a:gridCol>
                <a:gridCol w="8522748">
                  <a:extLst>
                    <a:ext uri="{9D8B030D-6E8A-4147-A177-3AD203B41FA5}">
                      <a16:colId xmlns:a16="http://schemas.microsoft.com/office/drawing/2014/main" val="53007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Part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Explanation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027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function greet()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Declares a function named 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greet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38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public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Visibility: Can be called externally (by users/other contracts) and internally.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92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view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 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modify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 contract's state (only reads data).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16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(string memory)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return type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its location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00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_greet;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value of 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_greet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 state variable, assumed to be defined elsewhere).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20021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657350" y="3048000"/>
            <a:ext cx="5619750" cy="7334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꺾인 연결선 4"/>
          <p:cNvCxnSpPr>
            <a:endCxn id="2" idx="1"/>
          </p:cNvCxnSpPr>
          <p:nvPr/>
        </p:nvCxnSpPr>
        <p:spPr>
          <a:xfrm rot="5400000">
            <a:off x="81051" y="3911403"/>
            <a:ext cx="2072991" cy="1079609"/>
          </a:xfrm>
          <a:prstGeom prst="bentConnector4">
            <a:avLst>
              <a:gd name="adj1" fmla="val 652"/>
              <a:gd name="adj2" fmla="val 121174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12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69" y="1022850"/>
            <a:ext cx="7969451" cy="325126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57350" y="3048000"/>
            <a:ext cx="5619750" cy="7334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꺾인 연결선 4"/>
          <p:cNvCxnSpPr>
            <a:endCxn id="4" idx="1"/>
          </p:cNvCxnSpPr>
          <p:nvPr/>
        </p:nvCxnSpPr>
        <p:spPr>
          <a:xfrm rot="5400000">
            <a:off x="-35320" y="3795030"/>
            <a:ext cx="2072991" cy="1312355"/>
          </a:xfrm>
          <a:prstGeom prst="bentConnector4">
            <a:avLst>
              <a:gd name="adj1" fmla="val 22162"/>
              <a:gd name="adj2" fmla="val 117419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524" y="94786"/>
            <a:ext cx="4039164" cy="66398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997" y="4333541"/>
            <a:ext cx="772805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Function Calls in Solidity</a:t>
            </a:r>
            <a:endParaRPr lang="en-US" altLang="ko-KR" sz="800" dirty="0"/>
          </a:p>
          <a:p>
            <a:pPr marL="342900" indent="-342900">
              <a:buAutoNum type="arabicPeriod"/>
            </a:pPr>
            <a:r>
              <a:rPr lang="en-US" altLang="ko-KR" b="1" dirty="0"/>
              <a:t>No Internal Function Calls in Contract Definition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greet() </a:t>
            </a:r>
            <a:r>
              <a:rPr lang="en-US" altLang="ko-KR" dirty="0"/>
              <a:t>is </a:t>
            </a:r>
            <a:r>
              <a:rPr lang="en-US" altLang="ko-KR" i="1" dirty="0"/>
              <a:t>defined</a:t>
            </a:r>
            <a:r>
              <a:rPr lang="en-US" altLang="ko-KR" dirty="0"/>
              <a:t> but not </a:t>
            </a:r>
            <a:r>
              <a:rPr lang="en-US" altLang="ko-KR" i="1" dirty="0"/>
              <a:t>called</a:t>
            </a:r>
            <a:r>
              <a:rPr lang="en-US" altLang="ko-KR" dirty="0"/>
              <a:t> within the contract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is completely normal - the function waits to be called externally</a:t>
            </a:r>
            <a:endParaRPr lang="en-US" altLang="ko-KR" b="1" dirty="0"/>
          </a:p>
          <a:p>
            <a:r>
              <a:rPr lang="en-US" altLang="ko-KR" b="1" dirty="0"/>
              <a:t>2. Two Ways Functions Get Called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Externally</a:t>
            </a:r>
            <a:r>
              <a:rPr lang="en-US" altLang="ko-KR" dirty="0"/>
              <a:t>: By users or other contracts (most common)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Internally</a:t>
            </a:r>
            <a:r>
              <a:rPr lang="en-US" altLang="ko-KR" dirty="0"/>
              <a:t>: By other functions in the same contract (less common)</a:t>
            </a:r>
          </a:p>
        </p:txBody>
      </p:sp>
    </p:spTree>
    <p:extLst>
      <p:ext uri="{BB962C8B-B14F-4D97-AF65-F5344CB8AC3E}">
        <p14:creationId xmlns:p14="http://schemas.microsoft.com/office/powerpoint/2010/main" val="184931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24675" y="104773"/>
            <a:ext cx="5143500" cy="39703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pragma solidity ^0.8.26;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contract HelloWorld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// State variable to store the greeting message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string private _greeting = "Hello, World!";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    // Public function to return the greeting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function greet() public view returns (string memory)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    return _greeting;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}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// If you later want to modify the greeting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function </a:t>
            </a:r>
            <a:r>
              <a:rPr lang="en-US" altLang="ko-KR" sz="1400" dirty="0" err="1">
                <a:solidFill>
                  <a:schemeClr val="bg1"/>
                </a:solidFill>
              </a:rPr>
              <a:t>setGreeting</a:t>
            </a:r>
            <a:r>
              <a:rPr lang="en-US" altLang="ko-KR" sz="1400" dirty="0">
                <a:solidFill>
                  <a:schemeClr val="bg1"/>
                </a:solidFill>
              </a:rPr>
              <a:t>(string memory </a:t>
            </a:r>
            <a:r>
              <a:rPr lang="en-US" altLang="ko-KR" sz="1400" dirty="0" err="1">
                <a:solidFill>
                  <a:schemeClr val="bg1"/>
                </a:solidFill>
              </a:rPr>
              <a:t>newGreeting</a:t>
            </a:r>
            <a:r>
              <a:rPr lang="en-US" altLang="ko-KR" sz="1400" dirty="0">
                <a:solidFill>
                  <a:schemeClr val="bg1"/>
                </a:solidFill>
              </a:rPr>
              <a:t>) public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    _greeting = </a:t>
            </a:r>
            <a:r>
              <a:rPr lang="en-US" altLang="ko-KR" sz="1400" dirty="0" err="1">
                <a:solidFill>
                  <a:schemeClr val="bg1"/>
                </a:solidFill>
              </a:rPr>
              <a:t>newGreeting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}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98" y="1022260"/>
            <a:ext cx="6176121" cy="4378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5498" y="5501156"/>
            <a:ext cx="111983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Imagine a whiteboard (the contract) with "Hello, World!" written on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This function lets you erase that and write a new message instead.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If you call </a:t>
            </a:r>
            <a:r>
              <a:rPr lang="en-US" altLang="ko-KR" dirty="0" err="1">
                <a:solidFill>
                  <a:srgbClr val="C00000"/>
                </a:solidFill>
              </a:rPr>
              <a:t>setGreeting</a:t>
            </a:r>
            <a:r>
              <a:rPr lang="en-US" altLang="ko-KR" dirty="0">
                <a:solidFill>
                  <a:srgbClr val="C00000"/>
                </a:solidFill>
              </a:rPr>
              <a:t>(“Hi there!”)</a:t>
            </a:r>
            <a:r>
              <a:rPr lang="en-US" altLang="ko-KR" dirty="0"/>
              <a:t>, then </a:t>
            </a:r>
            <a:r>
              <a:rPr lang="en-US" altLang="ko-KR" dirty="0">
                <a:solidFill>
                  <a:srgbClr val="C00000"/>
                </a:solidFill>
              </a:rPr>
              <a:t>greet() </a:t>
            </a:r>
            <a:r>
              <a:rPr lang="en-US" altLang="ko-KR" dirty="0"/>
              <a:t>will return “Hi there!” instead of “Hello, World!”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76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40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HelloWorld.sol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80540"/>
            <a:ext cx="4057932" cy="64410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63" y="280540"/>
            <a:ext cx="4029637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9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HelloNumber.sol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537749" y="1514319"/>
            <a:ext cx="5915851" cy="2229161"/>
            <a:chOff x="3138074" y="2314419"/>
            <a:chExt cx="5915851" cy="222916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8074" y="2314419"/>
              <a:ext cx="5915851" cy="2229161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3762169" y="3162299"/>
              <a:ext cx="4419806" cy="962026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03601"/>
              </p:ext>
            </p:extLst>
          </p:nvPr>
        </p:nvGraphicFramePr>
        <p:xfrm>
          <a:off x="537748" y="3815080"/>
          <a:ext cx="909553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250906711"/>
                    </a:ext>
                  </a:extLst>
                </a:gridCol>
                <a:gridCol w="673197">
                  <a:extLst>
                    <a:ext uri="{9D8B030D-6E8A-4147-A177-3AD203B41FA5}">
                      <a16:colId xmlns:a16="http://schemas.microsoft.com/office/drawing/2014/main" val="2181081005"/>
                    </a:ext>
                  </a:extLst>
                </a:gridCol>
                <a:gridCol w="3045143">
                  <a:extLst>
                    <a:ext uri="{9D8B030D-6E8A-4147-A177-3AD203B41FA5}">
                      <a16:colId xmlns:a16="http://schemas.microsoft.com/office/drawing/2014/main" val="4050965716"/>
                    </a:ext>
                  </a:extLst>
                </a:gridCol>
                <a:gridCol w="4483119">
                  <a:extLst>
                    <a:ext uri="{9D8B030D-6E8A-4147-A177-3AD203B41FA5}">
                      <a16:colId xmlns:a16="http://schemas.microsoft.com/office/drawing/2014/main" val="1562101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Bits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Use Case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676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-128</a:t>
                      </a:r>
                      <a:r>
                        <a:rPr lang="en-US" altLang="ko-KR" baseline="0" dirty="0"/>
                        <a:t> to 127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Tiny</a:t>
                      </a:r>
                      <a:r>
                        <a:rPr lang="en-US" altLang="ko-KR" baseline="0" dirty="0"/>
                        <a:t> values (e.g., percentage)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2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-32,768 to 32,767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Rarely used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14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int32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-2.1e9</a:t>
                      </a:r>
                      <a:r>
                        <a:rPr lang="en-US" altLang="ko-KR" baseline="0" dirty="0"/>
                        <a:t> to 2.1e9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Timestamps, small counters.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24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int64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-9.2e18 to 9.2e18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Medium-sized numbers.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03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int128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-1.7e38 to 1.7e38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numbers (common in DeFi).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071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-1.1e77 to 1.1e77 (</a:t>
                      </a:r>
                      <a:r>
                        <a:rPr lang="en-US" altLang="ko-KR" b="1" dirty="0"/>
                        <a:t>default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general-purpose arithmetic.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33232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10375" y="723900"/>
            <a:ext cx="4962525" cy="181588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pragma solidity ^0.8.26;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contract </a:t>
            </a:r>
            <a:r>
              <a:rPr lang="en-US" altLang="ko-KR" sz="1400" dirty="0" err="1">
                <a:solidFill>
                  <a:schemeClr val="bg1"/>
                </a:solidFill>
              </a:rPr>
              <a:t>HelloNumber</a:t>
            </a:r>
            <a:r>
              <a:rPr lang="en-US" altLang="ko-KR" sz="14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// State variable to store a number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    </a:t>
            </a:r>
            <a:r>
              <a:rPr lang="en-US" altLang="ko-KR" sz="1400" dirty="0" err="1">
                <a:solidFill>
                  <a:schemeClr val="bg1"/>
                </a:solidFill>
              </a:rPr>
              <a:t>int</a:t>
            </a:r>
            <a:r>
              <a:rPr lang="en-US" altLang="ko-KR" sz="1400" dirty="0">
                <a:solidFill>
                  <a:schemeClr val="bg1"/>
                </a:solidFill>
              </a:rPr>
              <a:t> public number = 10;</a:t>
            </a:r>
          </a:p>
          <a:p>
            <a:br>
              <a:rPr lang="en-US" altLang="ko-KR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727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2950" y="1476375"/>
            <a:ext cx="10801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Practice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Expand the </a:t>
            </a:r>
            <a:r>
              <a:rPr lang="en-US" altLang="ko-KR" dirty="0" err="1"/>
              <a:t>HelloNumber.sol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Change the modifier public to private of the state variable “number”.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Add a function to output the “number” variable value. (See page 10 of this slide)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dirty="0"/>
              <a:t>Add a function to output the “number” variable value getting from outside of the contract. (See page 11 of this slide)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dirty="0"/>
              <a:t>Combine your expanded </a:t>
            </a:r>
            <a:r>
              <a:rPr lang="en-US" altLang="ko-KR" dirty="0" err="1"/>
              <a:t>HelloNumber.sol</a:t>
            </a:r>
            <a:r>
              <a:rPr lang="en-US" altLang="ko-KR" dirty="0"/>
              <a:t> and expanded </a:t>
            </a:r>
            <a:r>
              <a:rPr lang="en-US" altLang="ko-KR" dirty="0" err="1"/>
              <a:t>HelloWorld.sol</a:t>
            </a:r>
            <a:r>
              <a:rPr lang="en-US" altLang="ko-KR" dirty="0"/>
              <a:t> together so that we can see both “number” and “greeting”.</a:t>
            </a:r>
          </a:p>
        </p:txBody>
      </p:sp>
    </p:spTree>
    <p:extLst>
      <p:ext uri="{BB962C8B-B14F-4D97-AF65-F5344CB8AC3E}">
        <p14:creationId xmlns:p14="http://schemas.microsoft.com/office/powerpoint/2010/main" val="272163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3" y="3700263"/>
            <a:ext cx="6220693" cy="28483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3" y="399849"/>
            <a:ext cx="6220693" cy="290363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38325" y="1543050"/>
            <a:ext cx="3381375" cy="4953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914525" y="4829175"/>
            <a:ext cx="2352675" cy="26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266950" y="5688905"/>
            <a:ext cx="3705225" cy="24517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972425" y="3409950"/>
            <a:ext cx="28098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state variables</a:t>
            </a:r>
            <a:endParaRPr lang="ko-KR" altLang="en-US" dirty="0"/>
          </a:p>
        </p:txBody>
      </p:sp>
      <p:cxnSp>
        <p:nvCxnSpPr>
          <p:cNvPr id="11" name="꺾인 연결선 10"/>
          <p:cNvCxnSpPr>
            <a:stCxn id="6" idx="3"/>
            <a:endCxn id="9" idx="1"/>
          </p:cNvCxnSpPr>
          <p:nvPr/>
        </p:nvCxnSpPr>
        <p:spPr>
          <a:xfrm>
            <a:off x="5219700" y="1790700"/>
            <a:ext cx="2752725" cy="1803916"/>
          </a:xfrm>
          <a:prstGeom prst="bentConnector3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endCxn id="9" idx="1"/>
          </p:cNvCxnSpPr>
          <p:nvPr/>
        </p:nvCxnSpPr>
        <p:spPr>
          <a:xfrm flipV="1">
            <a:off x="4267200" y="3594616"/>
            <a:ext cx="3705225" cy="1367909"/>
          </a:xfrm>
          <a:prstGeom prst="bentConnector3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72424" y="5626824"/>
            <a:ext cx="28098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local variables</a:t>
            </a:r>
            <a:endParaRPr lang="ko-KR" altLang="en-US" dirty="0"/>
          </a:p>
        </p:txBody>
      </p:sp>
      <p:cxnSp>
        <p:nvCxnSpPr>
          <p:cNvPr id="16" name="직선 연결선 15"/>
          <p:cNvCxnSpPr>
            <a:stCxn id="8" idx="3"/>
            <a:endCxn id="14" idx="1"/>
          </p:cNvCxnSpPr>
          <p:nvPr/>
        </p:nvCxnSpPr>
        <p:spPr>
          <a:xfrm>
            <a:off x="5972175" y="5811490"/>
            <a:ext cx="200024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90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1" y="57150"/>
            <a:ext cx="8259328" cy="67351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-4734"/>
            <a:ext cx="3343274" cy="685888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09650" y="4733925"/>
            <a:ext cx="6057900" cy="8286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439275" y="5638800"/>
            <a:ext cx="2333625" cy="3905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꺾인 연결선 16"/>
          <p:cNvCxnSpPr>
            <a:stCxn id="10" idx="3"/>
          </p:cNvCxnSpPr>
          <p:nvPr/>
        </p:nvCxnSpPr>
        <p:spPr>
          <a:xfrm>
            <a:off x="7067550" y="5148263"/>
            <a:ext cx="2371725" cy="685799"/>
          </a:xfrm>
          <a:prstGeom prst="bentConnector3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9439275" y="6029325"/>
            <a:ext cx="1057275" cy="3619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009650" y="1704975"/>
            <a:ext cx="5248275" cy="6000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stCxn id="19" idx="1"/>
            <a:endCxn id="22" idx="3"/>
          </p:cNvCxnSpPr>
          <p:nvPr/>
        </p:nvCxnSpPr>
        <p:spPr>
          <a:xfrm rot="10800000">
            <a:off x="6257925" y="2005014"/>
            <a:ext cx="3181350" cy="420528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707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CheckNumber.sol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96099" y="737113"/>
            <a:ext cx="5133975" cy="375487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pragma solidity ^0.8.26;</a:t>
            </a: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contract </a:t>
            </a:r>
            <a:r>
              <a:rPr lang="en-US" altLang="ko-KR" sz="1400" dirty="0" err="1">
                <a:solidFill>
                  <a:schemeClr val="bg1"/>
                </a:solidFill>
              </a:rPr>
              <a:t>HelloNumber</a:t>
            </a:r>
            <a:r>
              <a:rPr lang="en-US" altLang="ko-KR" sz="14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// State variable to store a number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</a:t>
            </a:r>
            <a:r>
              <a:rPr lang="en-US" altLang="ko-KR" sz="1400" dirty="0" err="1">
                <a:solidFill>
                  <a:schemeClr val="bg1"/>
                </a:solidFill>
              </a:rPr>
              <a:t>int</a:t>
            </a:r>
            <a:r>
              <a:rPr lang="en-US" altLang="ko-KR" sz="1400" dirty="0">
                <a:solidFill>
                  <a:schemeClr val="bg1"/>
                </a:solidFill>
              </a:rPr>
              <a:t> public number = 100;</a:t>
            </a: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    // Function to check if a number is positive/negative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function check(</a:t>
            </a:r>
            <a:r>
              <a:rPr lang="en-US" altLang="ko-KR" sz="1400" dirty="0" err="1">
                <a:solidFill>
                  <a:schemeClr val="bg1"/>
                </a:solidFill>
              </a:rPr>
              <a:t>int</a:t>
            </a:r>
            <a:r>
              <a:rPr lang="en-US" altLang="ko-KR" sz="1400" dirty="0">
                <a:solidFill>
                  <a:schemeClr val="bg1"/>
                </a:solidFill>
              </a:rPr>
              <a:t> x) public pure returns (string memory)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if (x &gt; 0)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return “The number is positive"; // Success case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} else if (x &lt; 0)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revert(“The number is negative"); // Failure case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return “The number is zero";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}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54" y="1759979"/>
            <a:ext cx="6601377" cy="430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56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CheckNumber.sol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54" y="1131329"/>
            <a:ext cx="6601377" cy="43028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028825" y="2476500"/>
            <a:ext cx="5486400" cy="3238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90549" y="3781425"/>
            <a:ext cx="11363326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b="1" dirty="0">
                <a:solidFill>
                  <a:srgbClr val="C00000"/>
                </a:solidFill>
              </a:rPr>
              <a:t>pure</a:t>
            </a:r>
            <a:r>
              <a:rPr lang="en-US" altLang="ko-KR" dirty="0"/>
              <a:t> keyword in Solidity is a </a:t>
            </a:r>
            <a:r>
              <a:rPr lang="en-US" altLang="ko-KR" b="1" dirty="0"/>
              <a:t>function modifier</a:t>
            </a:r>
            <a:r>
              <a:rPr lang="en-US" altLang="ko-KR" dirty="0"/>
              <a:t> that enforces two strict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No Reading State</a:t>
            </a:r>
            <a:r>
              <a:rPr lang="en-US" altLang="ko-KR" dirty="0"/>
              <a:t>: The function cannot access any contract state variables (like </a:t>
            </a:r>
            <a:r>
              <a:rPr lang="en-US" altLang="ko-KR" dirty="0">
                <a:solidFill>
                  <a:srgbClr val="C00000"/>
                </a:solidFill>
              </a:rPr>
              <a:t>number</a:t>
            </a:r>
            <a:r>
              <a:rPr lang="en-US" altLang="ko-KR" dirty="0"/>
              <a:t> in this example).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No Modifying State</a:t>
            </a:r>
            <a:r>
              <a:rPr lang="en-US" altLang="ko-KR" dirty="0"/>
              <a:t>: The function cannot change any data on the blockchain (e.g., updating variables or sending ETH).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Why use </a:t>
            </a:r>
            <a:r>
              <a:rPr lang="en-US" altLang="ko-KR" dirty="0">
                <a:solidFill>
                  <a:srgbClr val="C00000"/>
                </a:solidFill>
              </a:rPr>
              <a:t>PURE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Gas efficiency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C00000"/>
                </a:solidFill>
              </a:rPr>
              <a:t>pure</a:t>
            </a:r>
            <a:r>
              <a:rPr lang="en-US" altLang="ko-KR" dirty="0"/>
              <a:t> functions cost </a:t>
            </a:r>
            <a:r>
              <a:rPr lang="en-US" altLang="ko-KR" b="1" dirty="0"/>
              <a:t>zero gas</a:t>
            </a:r>
            <a:r>
              <a:rPr lang="en-US" altLang="ko-KR" dirty="0"/>
              <a:t> when called externally (because they don’t touch the blockchain).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Safety</a:t>
            </a:r>
            <a:r>
              <a:rPr lang="en-US" altLang="ko-KR" dirty="0"/>
              <a:t>: Prevents accidental reads/writes to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Clarity</a:t>
            </a:r>
            <a:r>
              <a:rPr lang="en-US" altLang="ko-KR" dirty="0"/>
              <a:t>: Signals to other developers that the function is a </a:t>
            </a:r>
            <a:r>
              <a:rPr lang="en-US" altLang="ko-KR" i="1" dirty="0"/>
              <a:t>utility</a:t>
            </a:r>
            <a:r>
              <a:rPr lang="en-US" altLang="ko-KR" dirty="0"/>
              <a:t> (e.g., math operations).</a:t>
            </a:r>
          </a:p>
        </p:txBody>
      </p:sp>
      <p:cxnSp>
        <p:nvCxnSpPr>
          <p:cNvPr id="8" name="꺾인 연결선 7"/>
          <p:cNvCxnSpPr>
            <a:stCxn id="3" idx="1"/>
            <a:endCxn id="4" idx="1"/>
          </p:cNvCxnSpPr>
          <p:nvPr/>
        </p:nvCxnSpPr>
        <p:spPr>
          <a:xfrm rot="10800000" flipV="1">
            <a:off x="590549" y="2638424"/>
            <a:ext cx="1438276" cy="2574161"/>
          </a:xfrm>
          <a:prstGeom prst="bentConnector3">
            <a:avLst>
              <a:gd name="adj1" fmla="val 115894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47539"/>
              </p:ext>
            </p:extLst>
          </p:nvPr>
        </p:nvGraphicFramePr>
        <p:xfrm>
          <a:off x="4876799" y="152400"/>
          <a:ext cx="707707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69">
                  <a:extLst>
                    <a:ext uri="{9D8B030D-6E8A-4147-A177-3AD203B41FA5}">
                      <a16:colId xmlns:a16="http://schemas.microsoft.com/office/drawing/2014/main" val="1407265138"/>
                    </a:ext>
                  </a:extLst>
                </a:gridCol>
                <a:gridCol w="1769269">
                  <a:extLst>
                    <a:ext uri="{9D8B030D-6E8A-4147-A177-3AD203B41FA5}">
                      <a16:colId xmlns:a16="http://schemas.microsoft.com/office/drawing/2014/main" val="1723701567"/>
                    </a:ext>
                  </a:extLst>
                </a:gridCol>
                <a:gridCol w="1769269">
                  <a:extLst>
                    <a:ext uri="{9D8B030D-6E8A-4147-A177-3AD203B41FA5}">
                      <a16:colId xmlns:a16="http://schemas.microsoft.com/office/drawing/2014/main" val="3289931514"/>
                    </a:ext>
                  </a:extLst>
                </a:gridCol>
                <a:gridCol w="1769269">
                  <a:extLst>
                    <a:ext uri="{9D8B030D-6E8A-4147-A177-3AD203B41FA5}">
                      <a16:colId xmlns:a16="http://schemas.microsoft.com/office/drawing/2014/main" val="3143412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Modifier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Can Read State?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Can Modify State?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Gas Cost (External Call)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3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pure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gas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2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view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gas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05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(None)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Paid in gas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60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0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CheckNumber.sol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54" y="1131329"/>
            <a:ext cx="6601377" cy="43028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028825" y="4067175"/>
            <a:ext cx="5486400" cy="3238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90549" y="5276850"/>
            <a:ext cx="1136332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b="1" dirty="0">
                <a:solidFill>
                  <a:srgbClr val="C00000"/>
                </a:solidFill>
              </a:rPr>
              <a:t>revert</a:t>
            </a:r>
            <a:r>
              <a:rPr lang="en-US" altLang="ko-KR" dirty="0"/>
              <a:t> keyword in Solidity is like an </a:t>
            </a:r>
            <a:r>
              <a:rPr lang="en-US" altLang="ko-KR" b="1" dirty="0"/>
              <a:t>emergency stop button</a:t>
            </a:r>
            <a:r>
              <a:rPr lang="en-US" altLang="ko-KR" dirty="0"/>
              <a:t> for your smart contract. It immediately cancels the current transaction and can provide an error message.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Undoes All Changes</a:t>
            </a:r>
            <a:r>
              <a:rPr lang="en-US" altLang="ko-KR" dirty="0"/>
              <a:t>: Any state modifications made before the revert are canceled.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Refunds Gas</a:t>
            </a:r>
            <a:r>
              <a:rPr lang="en-US" altLang="ko-KR" dirty="0"/>
              <a:t>: Unlike the keyword </a:t>
            </a:r>
            <a:r>
              <a:rPr lang="en-US" altLang="ko-KR" dirty="0">
                <a:solidFill>
                  <a:srgbClr val="C00000"/>
                </a:solidFill>
              </a:rPr>
              <a:t>assert</a:t>
            </a:r>
            <a:r>
              <a:rPr lang="en-US" altLang="ko-KR" dirty="0"/>
              <a:t>, it refunds unused gas (except for a small fee).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Error Messages</a:t>
            </a:r>
            <a:r>
              <a:rPr lang="en-US" altLang="ko-KR" dirty="0"/>
              <a:t>: You can include a string to explain why the revert happened.</a:t>
            </a:r>
          </a:p>
        </p:txBody>
      </p:sp>
      <p:cxnSp>
        <p:nvCxnSpPr>
          <p:cNvPr id="8" name="꺾인 연결선 7"/>
          <p:cNvCxnSpPr>
            <a:stCxn id="3" idx="1"/>
            <a:endCxn id="4" idx="1"/>
          </p:cNvCxnSpPr>
          <p:nvPr/>
        </p:nvCxnSpPr>
        <p:spPr>
          <a:xfrm rot="10800000" flipV="1">
            <a:off x="590549" y="4229100"/>
            <a:ext cx="1438276" cy="1786414"/>
          </a:xfrm>
          <a:prstGeom prst="bentConnector3">
            <a:avLst>
              <a:gd name="adj1" fmla="val 115894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15067"/>
              </p:ext>
            </p:extLst>
          </p:nvPr>
        </p:nvGraphicFramePr>
        <p:xfrm>
          <a:off x="5400674" y="2293620"/>
          <a:ext cx="65532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1">
                  <a:extLst>
                    <a:ext uri="{9D8B030D-6E8A-4147-A177-3AD203B41FA5}">
                      <a16:colId xmlns:a16="http://schemas.microsoft.com/office/drawing/2014/main" val="28327579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37071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62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require</a:t>
                      </a:r>
                      <a:r>
                        <a:rPr lang="en-US" altLang="ko-KR" dirty="0"/>
                        <a:t>(condition, “error”)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Cleaner for simple checks.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26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revert</a:t>
                      </a:r>
                      <a:r>
                        <a:rPr lang="en-US" altLang="ko-KR" dirty="0"/>
                        <a:t>(“error”)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</a:rPr>
                        <a:t>Better for complex logic.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914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730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Counter.sol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4" y="1142653"/>
            <a:ext cx="7392432" cy="4972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4613" y="87660"/>
            <a:ext cx="5524500" cy="469359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// SPDX-License-Identifier: MIT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pragma solidity 0.8.26;</a:t>
            </a:r>
          </a:p>
          <a:p>
            <a:br>
              <a:rPr lang="en-US" altLang="ko-KR" sz="1600" dirty="0">
                <a:solidFill>
                  <a:schemeClr val="bg1"/>
                </a:solidFill>
              </a:rPr>
            </a:br>
            <a:r>
              <a:rPr lang="en-US" altLang="ko-KR" sz="1600" dirty="0">
                <a:solidFill>
                  <a:schemeClr val="bg1"/>
                </a:solidFill>
              </a:rPr>
              <a:t>contract Counter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</a:t>
            </a:r>
            <a:r>
              <a:rPr lang="en-US" altLang="ko-KR" sz="1600" dirty="0" err="1">
                <a:solidFill>
                  <a:schemeClr val="bg1"/>
                </a:solidFill>
              </a:rPr>
              <a:t>uint</a:t>
            </a:r>
            <a:r>
              <a:rPr lang="en-US" altLang="ko-KR" sz="1600" dirty="0">
                <a:solidFill>
                  <a:schemeClr val="bg1"/>
                </a:solidFill>
              </a:rPr>
              <a:t> public counter;</a:t>
            </a:r>
          </a:p>
          <a:p>
            <a:br>
              <a:rPr lang="en-US" altLang="ko-KR" sz="1600" dirty="0">
                <a:solidFill>
                  <a:schemeClr val="bg1"/>
                </a:solidFill>
              </a:rPr>
            </a:br>
            <a:r>
              <a:rPr lang="en-US" altLang="ko-KR" sz="1600" dirty="0">
                <a:solidFill>
                  <a:schemeClr val="bg1"/>
                </a:solidFill>
              </a:rPr>
              <a:t>    constructor()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    counter = 0;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}</a:t>
            </a:r>
          </a:p>
          <a:p>
            <a:br>
              <a:rPr lang="en-US" altLang="ko-KR" sz="1600" dirty="0">
                <a:solidFill>
                  <a:schemeClr val="bg1"/>
                </a:solidFill>
              </a:rPr>
            </a:br>
            <a:r>
              <a:rPr lang="en-US" altLang="ko-KR" sz="1600" dirty="0">
                <a:solidFill>
                  <a:schemeClr val="bg1"/>
                </a:solidFill>
              </a:rPr>
              <a:t>    function count() public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    counter = counter + 1;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}</a:t>
            </a:r>
          </a:p>
          <a:p>
            <a:br>
              <a:rPr lang="en-US" altLang="ko-KR" sz="1600" dirty="0">
                <a:solidFill>
                  <a:schemeClr val="bg1"/>
                </a:solidFill>
              </a:rPr>
            </a:br>
            <a:r>
              <a:rPr lang="en-US" altLang="ko-KR" sz="1600" dirty="0">
                <a:solidFill>
                  <a:schemeClr val="bg1"/>
                </a:solidFill>
              </a:rPr>
              <a:t>    function get() public view returns (</a:t>
            </a:r>
            <a:r>
              <a:rPr lang="en-US" altLang="ko-KR" sz="1600" dirty="0" err="1">
                <a:solidFill>
                  <a:schemeClr val="bg1"/>
                </a:solidFill>
              </a:rPr>
              <a:t>uint</a:t>
            </a:r>
            <a:r>
              <a:rPr lang="en-US" altLang="ko-KR" sz="1600" dirty="0">
                <a:solidFill>
                  <a:schemeClr val="bg1"/>
                </a:solidFill>
              </a:rPr>
              <a:t>)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    return counter;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    }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19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Counter.sol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249" y="1581025"/>
            <a:ext cx="1629002" cy="1781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1476375"/>
            <a:ext cx="73247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Button Color Codes in Remix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Orange Button (</a:t>
            </a:r>
            <a:r>
              <a:rPr lang="en-US" altLang="ko-KR" dirty="0">
                <a:solidFill>
                  <a:srgbClr val="C00000"/>
                </a:solidFill>
              </a:rPr>
              <a:t>count</a:t>
            </a:r>
            <a:r>
              <a:rPr lang="en-US" altLang="ko-KR" dirty="0"/>
              <a:t> function)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Type</a:t>
            </a:r>
            <a:r>
              <a:rPr lang="en-US" altLang="ko-KR" dirty="0"/>
              <a:t>: Transaction-writing function (changes state)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Color Meaning</a:t>
            </a:r>
            <a:r>
              <a:rPr lang="en-US" altLang="ko-KR" dirty="0"/>
              <a:t>: Requires gas fee to execute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Behavior</a:t>
            </a:r>
            <a:r>
              <a:rPr lang="en-US" altLang="ko-KR" dirty="0"/>
              <a:t>: Modifies the blockchain state (updates </a:t>
            </a:r>
            <a:r>
              <a:rPr lang="en-US" altLang="ko-KR" dirty="0">
                <a:solidFill>
                  <a:srgbClr val="C00000"/>
                </a:solidFill>
              </a:rPr>
              <a:t>counter</a:t>
            </a:r>
            <a:r>
              <a:rPr lang="en-US" altLang="ko-KR" dirty="0"/>
              <a:t>)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Green Buttons (</a:t>
            </a:r>
            <a:r>
              <a:rPr lang="en-US" altLang="ko-KR" dirty="0">
                <a:solidFill>
                  <a:srgbClr val="C00000"/>
                </a:solidFill>
              </a:rPr>
              <a:t>counter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rgbClr val="C00000"/>
                </a:solidFill>
              </a:rPr>
              <a:t>get</a:t>
            </a:r>
            <a:r>
              <a:rPr lang="en-US" altLang="ko-KR" dirty="0"/>
              <a:t> function)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Type</a:t>
            </a:r>
            <a:r>
              <a:rPr lang="en-US" altLang="ko-KR" dirty="0"/>
              <a:t>: View/read-only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Color Meaning</a:t>
            </a:r>
            <a:r>
              <a:rPr lang="en-US" altLang="ko-KR" dirty="0"/>
              <a:t>: Free to call (no gas cost)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Behavior</a:t>
            </a:r>
            <a:r>
              <a:rPr lang="en-US" altLang="ko-KR" dirty="0"/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counter</a:t>
            </a:r>
            <a:r>
              <a:rPr lang="en-US" altLang="ko-KR" dirty="0"/>
              <a:t>: Public variable auto-generated getter (green)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get</a:t>
            </a:r>
            <a:r>
              <a:rPr lang="en-US" altLang="ko-KR" dirty="0"/>
              <a:t>: Explicit </a:t>
            </a:r>
            <a:r>
              <a:rPr lang="en-US" altLang="ko-KR" dirty="0">
                <a:solidFill>
                  <a:srgbClr val="C00000"/>
                </a:solidFill>
              </a:rPr>
              <a:t>view</a:t>
            </a:r>
            <a:r>
              <a:rPr lang="en-US" altLang="ko-KR" dirty="0"/>
              <a:t> function (green)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63492"/>
              </p:ext>
            </p:extLst>
          </p:nvPr>
        </p:nvGraphicFramePr>
        <p:xfrm>
          <a:off x="1174749" y="5320241"/>
          <a:ext cx="104171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026">
                  <a:extLst>
                    <a:ext uri="{9D8B030D-6E8A-4147-A177-3AD203B41FA5}">
                      <a16:colId xmlns:a16="http://schemas.microsoft.com/office/drawing/2014/main" val="68925152"/>
                    </a:ext>
                  </a:extLst>
                </a:gridCol>
                <a:gridCol w="2569844">
                  <a:extLst>
                    <a:ext uri="{9D8B030D-6E8A-4147-A177-3AD203B41FA5}">
                      <a16:colId xmlns:a16="http://schemas.microsoft.com/office/drawing/2014/main" val="3716353826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3981788637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845475089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4709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Button Color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Function Type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Gas Cost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Modifies State?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83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State-changing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count()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357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Green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view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pure</a:t>
                      </a:r>
                      <a:r>
                        <a:rPr lang="en-US" altLang="ko-KR" dirty="0"/>
                        <a:t>/getter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get()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counter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26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893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Counter.sol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2" y="1180757"/>
            <a:ext cx="7640116" cy="49155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412" y="1766716"/>
            <a:ext cx="1581371" cy="122889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367263" y="2224002"/>
            <a:ext cx="2409825" cy="3143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>
            <a:stCxn id="7" idx="3"/>
            <a:endCxn id="4" idx="1"/>
          </p:cNvCxnSpPr>
          <p:nvPr/>
        </p:nvCxnSpPr>
        <p:spPr>
          <a:xfrm flipV="1">
            <a:off x="3777088" y="2381164"/>
            <a:ext cx="4643324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429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+mj-ea"/>
                <a:ea typeface="+mj-ea"/>
              </a:rPr>
              <a:t>Counter.sol</a:t>
            </a:r>
            <a:endParaRPr lang="ko-KR" altLang="en-US" b="1" dirty="0">
              <a:latin typeface="+mj-ea"/>
              <a:ea typeface="+mj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56147"/>
              </p:ext>
            </p:extLst>
          </p:nvPr>
        </p:nvGraphicFramePr>
        <p:xfrm>
          <a:off x="6899002" y="4716726"/>
          <a:ext cx="50548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092">
                  <a:extLst>
                    <a:ext uri="{9D8B030D-6E8A-4147-A177-3AD203B41FA5}">
                      <a16:colId xmlns:a16="http://schemas.microsoft.com/office/drawing/2014/main" val="833477611"/>
                    </a:ext>
                  </a:extLst>
                </a:gridCol>
                <a:gridCol w="3241780">
                  <a:extLst>
                    <a:ext uri="{9D8B030D-6E8A-4147-A177-3AD203B41FA5}">
                      <a16:colId xmlns:a16="http://schemas.microsoft.com/office/drawing/2014/main" val="2110218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lt"/>
                        </a:rPr>
                        <a:t>Rule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lt"/>
                        </a:rPr>
                        <a:t>Example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49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No return type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constructor() {…}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17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No manual calls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Can't call after deployment.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40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Only one allowed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overloading (unlike Java/C++).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90315"/>
                  </a:ext>
                </a:extLst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4" y="1142653"/>
            <a:ext cx="7392432" cy="4972744"/>
          </a:xfrm>
          <a:prstGeom prst="rect">
            <a:avLst/>
          </a:prstGeom>
        </p:spPr>
      </p:pic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503524"/>
              </p:ext>
            </p:extLst>
          </p:nvPr>
        </p:nvGraphicFramePr>
        <p:xfrm>
          <a:off x="5553074" y="1988577"/>
          <a:ext cx="64484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987369086"/>
                    </a:ext>
                  </a:extLst>
                </a:gridCol>
                <a:gridCol w="2727325">
                  <a:extLst>
                    <a:ext uri="{9D8B030D-6E8A-4147-A177-3AD203B41FA5}">
                      <a16:colId xmlns:a16="http://schemas.microsoft.com/office/drawing/2014/main" val="3887268850"/>
                    </a:ext>
                  </a:extLst>
                </a:gridCol>
                <a:gridCol w="2149475">
                  <a:extLst>
                    <a:ext uri="{9D8B030D-6E8A-4147-A177-3AD203B41FA5}">
                      <a16:colId xmlns:a16="http://schemas.microsoft.com/office/drawing/2014/main" val="1192987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constructor()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Regular Function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53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Runs When?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deployment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called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554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Callable?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09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Gas Cost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Paid once (deployment)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Paid per call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016188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5298" y="4029075"/>
            <a:ext cx="11506201" cy="2431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b="1" dirty="0">
                <a:solidFill>
                  <a:srgbClr val="C00000"/>
                </a:solidFill>
              </a:rPr>
              <a:t>constructor</a:t>
            </a:r>
            <a:r>
              <a:rPr lang="en-US" altLang="ko-KR" dirty="0"/>
              <a:t> is a </a:t>
            </a:r>
            <a:r>
              <a:rPr lang="en-US" altLang="ko-KR" b="1" dirty="0"/>
              <a:t>special function</a:t>
            </a:r>
            <a:r>
              <a:rPr lang="en-US" altLang="ko-KR" dirty="0"/>
              <a:t> that runs </a:t>
            </a:r>
            <a:r>
              <a:rPr lang="en-US" altLang="ko-KR" b="1" dirty="0"/>
              <a:t>only once</a:t>
            </a:r>
            <a:r>
              <a:rPr lang="en-US" altLang="ko-KR" dirty="0"/>
              <a:t> when your smart contract is deployed.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Initialize state variables</a:t>
            </a:r>
            <a:r>
              <a:rPr lang="en-US" altLang="ko-KR" dirty="0"/>
              <a:t> (e.g., set the contract owner).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Configure initial settings</a:t>
            </a:r>
            <a:r>
              <a:rPr lang="en-US" altLang="ko-KR" dirty="0"/>
              <a:t> (e.g., token name/symbol).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Perform one-time setup</a:t>
            </a:r>
            <a:r>
              <a:rPr lang="en-US" altLang="ko-KR" dirty="0"/>
              <a:t> (e.g., deposit initial funds).</a:t>
            </a:r>
          </a:p>
          <a:p>
            <a:endParaRPr lang="en-US" altLang="ko-KR" sz="800" strike="sngStrike" dirty="0"/>
          </a:p>
          <a:p>
            <a:r>
              <a:rPr lang="en-US" altLang="ko-KR" dirty="0"/>
              <a:t>Key features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Runs automatically</a:t>
            </a:r>
            <a:r>
              <a:rPr lang="en-US" altLang="ko-KR" dirty="0"/>
              <a:t> on deployment (can't be called later).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No name needed</a:t>
            </a:r>
            <a:r>
              <a:rPr lang="en-US" altLang="ko-KR" dirty="0"/>
              <a:t>: Declared with just </a:t>
            </a:r>
            <a:r>
              <a:rPr lang="en-US" altLang="ko-KR" dirty="0">
                <a:solidFill>
                  <a:srgbClr val="C00000"/>
                </a:solidFill>
              </a:rPr>
              <a:t>constructor()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Can take arguments</a:t>
            </a:r>
            <a:r>
              <a:rPr lang="en-US" altLang="ko-KR" dirty="0"/>
              <a:t> (passed during deployment).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9675" y="2857500"/>
            <a:ext cx="4191000" cy="8763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0" name="꺾인 연결선 19"/>
          <p:cNvCxnSpPr>
            <a:stCxn id="17" idx="1"/>
            <a:endCxn id="18" idx="1"/>
          </p:cNvCxnSpPr>
          <p:nvPr/>
        </p:nvCxnSpPr>
        <p:spPr>
          <a:xfrm rot="10800000" flipH="1">
            <a:off x="495297" y="3295651"/>
            <a:ext cx="714377" cy="1949143"/>
          </a:xfrm>
          <a:prstGeom prst="bentConnector3">
            <a:avLst>
              <a:gd name="adj1" fmla="val -32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800642"/>
              </p:ext>
            </p:extLst>
          </p:nvPr>
        </p:nvGraphicFramePr>
        <p:xfrm>
          <a:off x="6899002" y="4674382"/>
          <a:ext cx="50548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748">
                  <a:extLst>
                    <a:ext uri="{9D8B030D-6E8A-4147-A177-3AD203B41FA5}">
                      <a16:colId xmlns:a16="http://schemas.microsoft.com/office/drawing/2014/main" val="2081307838"/>
                    </a:ext>
                  </a:extLst>
                </a:gridCol>
                <a:gridCol w="3286124">
                  <a:extLst>
                    <a:ext uri="{9D8B030D-6E8A-4147-A177-3AD203B41FA5}">
                      <a16:colId xmlns:a16="http://schemas.microsoft.com/office/drawing/2014/main" val="2429806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588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 return type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</a:rPr>
                        <a:t>constructor() {…}</a:t>
                      </a:r>
                      <a:endParaRPr lang="ko-KR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62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 manual calls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Can't call after deployment.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6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Only one allowed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overloading (unlike Java/C++).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968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4920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48677</TotalTime>
  <Words>1941</Words>
  <Application>Microsoft Office PowerPoint</Application>
  <PresentationFormat>와이드스크린</PresentationFormat>
  <Paragraphs>339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Arial</vt:lpstr>
      <vt:lpstr>Trebuchet MS</vt:lpstr>
      <vt:lpstr>Wingdings 3</vt:lpstr>
      <vt:lpstr>패싯</vt:lpstr>
      <vt:lpstr> LECTUR 4 Solidity and Remix IDE 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핀테크 개론</dc:title>
  <dc:creator>khj-@korea.ac.kr</dc:creator>
  <cp:lastModifiedBy>이창연(학부생-지능형ICT융합전공)</cp:lastModifiedBy>
  <cp:revision>310</cp:revision>
  <dcterms:created xsi:type="dcterms:W3CDTF">2024-03-18T13:10:56Z</dcterms:created>
  <dcterms:modified xsi:type="dcterms:W3CDTF">2026-03-30T02:34:59Z</dcterms:modified>
</cp:coreProperties>
</file>